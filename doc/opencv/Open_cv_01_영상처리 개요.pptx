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66" r:id="rId14"/>
    <p:sldId id="267" r:id="rId15"/>
    <p:sldId id="268" r:id="rId16"/>
    <p:sldId id="269" r:id="rId17"/>
    <p:sldId id="274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1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1" d="100"/>
          <a:sy n="141" d="100"/>
        </p:scale>
        <p:origin x="-133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269C3-C25E-41E8-815A-55A10694EC7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70691-BFF7-46A3-A51C-EDFA8C5FB6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011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0290A-1521-4E2C-B981-7952210E2E19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EE1D8-CF94-4B34-B47A-3155D616A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2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EE1D8-CF94-4B34-B47A-3155D616A20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716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EE1D8-CF94-4B34-B47A-3155D616A20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71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304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4293096"/>
            <a:ext cx="8352928" cy="8503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304684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973852"/>
            <a:ext cx="9144000" cy="3024336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5628704"/>
            <a:ext cx="8280920" cy="72008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ko-KR" altLang="en-US" sz="140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40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40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234125"/>
            <a:ext cx="1224136" cy="120797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5517232"/>
            <a:ext cx="648072" cy="6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6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4357694"/>
            <a:ext cx="8072494" cy="71438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10/24/2025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67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82594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429396"/>
            <a:ext cx="2895600" cy="292079"/>
          </a:xfrm>
        </p:spPr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429396"/>
            <a:ext cx="2133600" cy="292079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007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620688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6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0"/>
            <a:ext cx="9144000" cy="27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2396"/>
            <a:ext cx="9144000" cy="2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620688"/>
            <a:ext cx="8229600" cy="5594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5471"/>
            <a:ext cx="8229600" cy="403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46852"/>
            <a:ext cx="738064" cy="7283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6120213"/>
            <a:ext cx="738064" cy="728321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 bwMode="white">
          <a:xfrm>
            <a:off x="0" y="830844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2041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PART 01 </a:t>
            </a:r>
            <a:r>
              <a:rPr lang="ko-KR" altLang="en-US" dirty="0"/>
              <a:t>영상 처리 개요 및 </a:t>
            </a:r>
            <a:r>
              <a:rPr lang="en-US" altLang="ko-KR" dirty="0" err="1"/>
              <a:t>OpenCV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CHAPTER 01</a:t>
            </a:r>
            <a:r>
              <a:rPr lang="ko-KR" altLang="en-US" dirty="0"/>
              <a:t>영상 처리 개요</a:t>
            </a:r>
          </a:p>
        </p:txBody>
      </p:sp>
    </p:spTree>
    <p:extLst>
      <p:ext uri="{BB962C8B-B14F-4D97-AF65-F5344CB8AC3E}">
        <p14:creationId xmlns:p14="http://schemas.microsoft.com/office/powerpoint/2010/main" val="410779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type="body" sz="half" idx="4294967295"/>
          </p:nvPr>
        </p:nvSpPr>
        <p:spPr>
          <a:xfrm>
            <a:off x="611560" y="1268760"/>
            <a:ext cx="7315200" cy="3743325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1.1 </a:t>
            </a:r>
            <a:r>
              <a:rPr lang="ko-KR" altLang="en-US" sz="2800" dirty="0"/>
              <a:t>영상 처리란</a:t>
            </a:r>
            <a:r>
              <a:rPr lang="en-US" altLang="ko-KR" sz="2800" dirty="0"/>
              <a:t>?</a:t>
            </a:r>
          </a:p>
          <a:p>
            <a:r>
              <a:rPr lang="en-US" altLang="ko-KR" sz="2800" dirty="0"/>
              <a:t>1.2 </a:t>
            </a:r>
            <a:r>
              <a:rPr lang="ko-KR" altLang="en-US" sz="2800" dirty="0"/>
              <a:t>영상 처리의 수준</a:t>
            </a:r>
          </a:p>
          <a:p>
            <a:r>
              <a:rPr lang="en-US" altLang="ko-KR" sz="2800" dirty="0"/>
              <a:t>1.3 </a:t>
            </a:r>
            <a:r>
              <a:rPr lang="ko-KR" altLang="en-US" sz="2800" dirty="0"/>
              <a:t>영상 처리의 역사</a:t>
            </a:r>
          </a:p>
          <a:p>
            <a:r>
              <a:rPr lang="en-US" altLang="ko-KR" sz="2800" dirty="0"/>
              <a:t>1.4 </a:t>
            </a:r>
            <a:r>
              <a:rPr lang="ko-KR" altLang="en-US" sz="2800" dirty="0"/>
              <a:t>영상 처리 관련 분야</a:t>
            </a:r>
          </a:p>
          <a:p>
            <a:r>
              <a:rPr lang="en-US" altLang="ko-KR" sz="2800" dirty="0"/>
              <a:t>1.5 </a:t>
            </a:r>
            <a:r>
              <a:rPr lang="ko-KR" altLang="en-US" sz="2800" dirty="0"/>
              <a:t>영상의 형성 과정</a:t>
            </a:r>
          </a:p>
          <a:p>
            <a:r>
              <a:rPr lang="en-US" altLang="ko-KR" sz="2800" dirty="0"/>
              <a:t>1.6 </a:t>
            </a:r>
            <a:r>
              <a:rPr lang="ko-KR" altLang="en-US" sz="2800" dirty="0"/>
              <a:t>디지털 영상의 표현과 영상 처리</a:t>
            </a:r>
          </a:p>
          <a:p>
            <a:r>
              <a:rPr lang="en-US" altLang="ko-KR" sz="2800" dirty="0"/>
              <a:t>1.7 </a:t>
            </a:r>
            <a:r>
              <a:rPr lang="ko-KR" altLang="en-US" sz="2800" dirty="0"/>
              <a:t>영상 처리 응용 분야</a:t>
            </a:r>
          </a:p>
        </p:txBody>
      </p:sp>
    </p:spTree>
    <p:extLst>
      <p:ext uri="{BB962C8B-B14F-4D97-AF65-F5344CB8AC3E}">
        <p14:creationId xmlns:p14="http://schemas.microsoft.com/office/powerpoint/2010/main" val="279170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1.1</a:t>
            </a:r>
            <a:r>
              <a:rPr lang="ko-KR" altLang="en-US" dirty="0"/>
              <a:t>영상 처리란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영상 </a:t>
            </a:r>
            <a:r>
              <a:rPr lang="en-US" altLang="ko-KR" dirty="0"/>
              <a:t>- </a:t>
            </a:r>
            <a:r>
              <a:rPr lang="ko-KR" altLang="en-US" dirty="0"/>
              <a:t>밝기와 색상이 다른 일정한 수의 </a:t>
            </a:r>
            <a:r>
              <a:rPr lang="ko-KR" altLang="en-US" dirty="0" err="1"/>
              <a:t>화소들로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1"/>
            <a:r>
              <a:rPr lang="ko-KR" altLang="en-US" dirty="0" err="1"/>
              <a:t>알렉스</a:t>
            </a:r>
            <a:r>
              <a:rPr lang="ko-KR" altLang="en-US" dirty="0"/>
              <a:t> </a:t>
            </a:r>
            <a:r>
              <a:rPr lang="ko-KR" altLang="en-US" dirty="0" err="1"/>
              <a:t>튜</a:t>
            </a:r>
            <a:r>
              <a:rPr lang="en-US" altLang="ko-KR" dirty="0"/>
              <a:t>(Alex </a:t>
            </a:r>
            <a:r>
              <a:rPr lang="en-US" altLang="ko-KR" dirty="0" err="1"/>
              <a:t>Tew</a:t>
            </a:r>
            <a:r>
              <a:rPr lang="en-US" altLang="ko-KR" dirty="0"/>
              <a:t>)</a:t>
            </a:r>
            <a:r>
              <a:rPr lang="ko-KR" altLang="en-US" dirty="0"/>
              <a:t>의 이미지 </a:t>
            </a:r>
            <a:endParaRPr lang="en-US" altLang="ko-KR" dirty="0"/>
          </a:p>
          <a:p>
            <a:pPr lvl="2"/>
            <a:r>
              <a:rPr lang="en-US" altLang="ko-KR" dirty="0"/>
              <a:t>100x100 </a:t>
            </a:r>
            <a:r>
              <a:rPr lang="ko-KR" altLang="en-US" dirty="0"/>
              <a:t>크기 영상에 다양한 이미지를 판매함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880" y="2780928"/>
            <a:ext cx="518457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768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1.1</a:t>
            </a:r>
            <a:r>
              <a:rPr lang="ko-KR" altLang="en-US" dirty="0"/>
              <a:t>영상 처리란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영상처리 </a:t>
            </a:r>
            <a:r>
              <a:rPr lang="en-US" altLang="ko-KR" dirty="0"/>
              <a:t>- </a:t>
            </a:r>
            <a:r>
              <a:rPr lang="ko-KR" altLang="en-US" dirty="0"/>
              <a:t>입력된 영상을 어떤 목적을 위해 처리하는 기술</a:t>
            </a:r>
            <a:endParaRPr lang="en-US" altLang="ko-KR" dirty="0"/>
          </a:p>
          <a:p>
            <a:pPr lvl="1"/>
            <a:r>
              <a:rPr lang="ko-KR" altLang="en-US" dirty="0"/>
              <a:t>아날로그 영상 처리 </a:t>
            </a:r>
            <a:r>
              <a:rPr lang="en-US" altLang="ko-KR" dirty="0"/>
              <a:t>/ </a:t>
            </a:r>
            <a:r>
              <a:rPr lang="ko-KR" altLang="en-US" dirty="0"/>
              <a:t>디지털 영상 처리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영상처리의 예</a:t>
            </a:r>
            <a:endParaRPr lang="en-US" altLang="ko-KR" dirty="0"/>
          </a:p>
          <a:p>
            <a:pPr lvl="1"/>
            <a:r>
              <a:rPr lang="ko-KR" altLang="en-US" dirty="0"/>
              <a:t>어두운 영상에 </a:t>
            </a:r>
            <a:r>
              <a:rPr lang="ko-KR" altLang="en-US" dirty="0" err="1"/>
              <a:t>화소</a:t>
            </a:r>
            <a:r>
              <a:rPr lang="ko-KR" altLang="en-US" dirty="0"/>
              <a:t> </a:t>
            </a:r>
            <a:r>
              <a:rPr lang="en-US" altLang="ko-KR" dirty="0"/>
              <a:t>50 </a:t>
            </a:r>
            <a:r>
              <a:rPr lang="ko-KR" altLang="en-US" dirty="0"/>
              <a:t>밝게 하기 </a:t>
            </a:r>
            <a:endParaRPr lang="en-US" altLang="ko-KR" dirty="0"/>
          </a:p>
          <a:p>
            <a:pPr lvl="1"/>
            <a:r>
              <a:rPr lang="ko-KR" altLang="en-US" dirty="0"/>
              <a:t>밝은 영상에 </a:t>
            </a:r>
            <a:r>
              <a:rPr lang="ko-KR" altLang="en-US" dirty="0" err="1"/>
              <a:t>화소</a:t>
            </a:r>
            <a:r>
              <a:rPr lang="ko-KR" altLang="en-US" dirty="0"/>
              <a:t> </a:t>
            </a:r>
            <a:r>
              <a:rPr lang="en-US" altLang="ko-KR" dirty="0"/>
              <a:t>50 </a:t>
            </a:r>
            <a:r>
              <a:rPr lang="ko-KR" altLang="en-US" dirty="0"/>
              <a:t>어둡게 하기</a:t>
            </a:r>
            <a:endParaRPr lang="en-US" altLang="ko-K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625720"/>
            <a:ext cx="40957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838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영상처리의 수준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 err="1"/>
              <a:t>저수준</a:t>
            </a:r>
            <a:r>
              <a:rPr lang="ko-KR" altLang="en-US" dirty="0"/>
              <a:t> 영상처리</a:t>
            </a:r>
            <a:endParaRPr lang="en-US" altLang="ko-KR" dirty="0"/>
          </a:p>
          <a:p>
            <a:pPr lvl="1"/>
            <a:r>
              <a:rPr lang="ko-KR" altLang="en-US" dirty="0"/>
              <a:t>영상 처리 결과가 영상인 경우</a:t>
            </a:r>
            <a:endParaRPr lang="en-US" altLang="ko-KR" dirty="0"/>
          </a:p>
          <a:p>
            <a:r>
              <a:rPr lang="ko-KR" altLang="en-US" dirty="0"/>
              <a:t>고수준 영상처리</a:t>
            </a:r>
            <a:endParaRPr lang="en-US" altLang="ko-KR" dirty="0"/>
          </a:p>
          <a:p>
            <a:pPr lvl="1"/>
            <a:r>
              <a:rPr lang="ko-KR" altLang="en-US" dirty="0"/>
              <a:t>영상 처리 결과가 영상이 아니라</a:t>
            </a:r>
            <a:r>
              <a:rPr lang="en-US" altLang="ko-KR" dirty="0"/>
              <a:t>, </a:t>
            </a:r>
            <a:r>
              <a:rPr lang="ko-KR" altLang="en-US" dirty="0"/>
              <a:t>영상의 특성을 나타내는 경우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996952"/>
            <a:ext cx="5385702" cy="339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810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1.3 </a:t>
            </a:r>
            <a:r>
              <a:rPr lang="ko-KR" altLang="en-US" dirty="0"/>
              <a:t>영상 처리의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>
            <a:normAutofit/>
          </a:bodyPr>
          <a:lstStyle/>
          <a:p>
            <a:r>
              <a:rPr lang="ko-KR" altLang="en-US" dirty="0"/>
              <a:t>영상 처리의 시작</a:t>
            </a:r>
            <a:endParaRPr lang="en-US" altLang="ko-KR" dirty="0"/>
          </a:p>
          <a:p>
            <a:pPr lvl="1"/>
            <a:r>
              <a:rPr lang="en-US" altLang="ko-KR" dirty="0"/>
              <a:t>1920</a:t>
            </a:r>
            <a:r>
              <a:rPr lang="ko-KR" altLang="en-US" dirty="0"/>
              <a:t>년대 초반 런던과 뉴욕 간에 해저 케이블을 통한 신문사들이 사진 전송</a:t>
            </a:r>
            <a:endParaRPr lang="en-US" altLang="ko-KR" dirty="0"/>
          </a:p>
          <a:p>
            <a:pPr lvl="4"/>
            <a:endParaRPr lang="en-US" altLang="ko-KR" dirty="0"/>
          </a:p>
          <a:p>
            <a:r>
              <a:rPr lang="ko-KR" altLang="en-US" dirty="0"/>
              <a:t>본격적인 영상 처리 위한 기술</a:t>
            </a:r>
            <a:endParaRPr lang="en-US" altLang="ko-KR" dirty="0"/>
          </a:p>
          <a:p>
            <a:pPr lvl="1"/>
            <a:r>
              <a:rPr lang="en-US" altLang="ko-KR" dirty="0"/>
              <a:t>1940</a:t>
            </a:r>
            <a:r>
              <a:rPr lang="ko-KR" altLang="en-US" dirty="0"/>
              <a:t>년대 폰 </a:t>
            </a:r>
            <a:r>
              <a:rPr lang="ko-KR" altLang="en-US" dirty="0" err="1"/>
              <a:t>노이만의</a:t>
            </a:r>
            <a:r>
              <a:rPr lang="ko-KR" altLang="en-US" dirty="0"/>
              <a:t> 디지털 </a:t>
            </a:r>
            <a:r>
              <a:rPr lang="ko-KR" altLang="en-US" dirty="0" err="1"/>
              <a:t>컴퓨터의개념</a:t>
            </a:r>
            <a:r>
              <a:rPr lang="ko-KR" altLang="en-US" dirty="0"/>
              <a:t> 시작</a:t>
            </a:r>
            <a:endParaRPr lang="en-US" altLang="ko-KR" dirty="0"/>
          </a:p>
          <a:p>
            <a:pPr lvl="1"/>
            <a:r>
              <a:rPr lang="en-US" altLang="ko-KR" dirty="0"/>
              <a:t>1950</a:t>
            </a:r>
            <a:r>
              <a:rPr lang="ko-KR" altLang="en-US" dirty="0"/>
              <a:t>년 이후 트랜지스터</a:t>
            </a:r>
            <a:r>
              <a:rPr lang="en-US" altLang="ko-KR" dirty="0"/>
              <a:t>, IC, </a:t>
            </a:r>
            <a:r>
              <a:rPr lang="ko-KR" altLang="en-US" dirty="0"/>
              <a:t>마이크로프로세서 같은 하드웨어 발달</a:t>
            </a:r>
            <a:endParaRPr lang="en-US" altLang="ko-KR" dirty="0"/>
          </a:p>
          <a:p>
            <a:pPr lvl="1"/>
            <a:r>
              <a:rPr lang="en-US" altLang="ko-KR" dirty="0"/>
              <a:t>1950~60</a:t>
            </a:r>
            <a:r>
              <a:rPr lang="ko-KR" altLang="en-US" dirty="0"/>
              <a:t>년대 프로그램의 언어의 발달과 운영체제 등의 소프트웨어 기술 발달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ko-KR" altLang="en-US" dirty="0"/>
              <a:t>본격적인 영상 처리 시작 </a:t>
            </a:r>
            <a:endParaRPr lang="en-US" altLang="ko-KR" dirty="0"/>
          </a:p>
          <a:p>
            <a:pPr lvl="1"/>
            <a:r>
              <a:rPr lang="ko-KR" altLang="en-US" dirty="0"/>
              <a:t>우주 탐사 계획인 아폴로 계획과도 관련</a:t>
            </a:r>
            <a:r>
              <a:rPr lang="en-US" altLang="ko-KR" dirty="0"/>
              <a:t>, </a:t>
            </a:r>
            <a:r>
              <a:rPr lang="ko-KR" altLang="en-US" dirty="0"/>
              <a:t>우주선에서 보낸 훼손된 영상의 복원 연구</a:t>
            </a:r>
          </a:p>
        </p:txBody>
      </p:sp>
    </p:spTree>
    <p:extLst>
      <p:ext uri="{BB962C8B-B14F-4D97-AF65-F5344CB8AC3E}">
        <p14:creationId xmlns:p14="http://schemas.microsoft.com/office/powerpoint/2010/main" val="750580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영상 처리의 역사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en-US" altLang="ko-KR" dirty="0"/>
              <a:t>1970</a:t>
            </a:r>
            <a:r>
              <a:rPr lang="ko-KR" altLang="en-US" dirty="0"/>
              <a:t>년대 영상 처리 분야 더욱 발전</a:t>
            </a:r>
          </a:p>
          <a:p>
            <a:pPr lvl="1"/>
            <a:r>
              <a:rPr lang="en-US" altLang="ko-KR" dirty="0"/>
              <a:t>CT, MRI </a:t>
            </a:r>
            <a:r>
              <a:rPr lang="ko-KR" altLang="en-US" dirty="0"/>
              <a:t>등의 의료 분야</a:t>
            </a:r>
            <a:endParaRPr lang="en-US" altLang="ko-KR" dirty="0"/>
          </a:p>
          <a:p>
            <a:pPr lvl="1"/>
            <a:r>
              <a:rPr lang="ko-KR" altLang="en-US" dirty="0"/>
              <a:t>원격 자원 탐사</a:t>
            </a:r>
            <a:r>
              <a:rPr lang="en-US" altLang="ko-KR" dirty="0"/>
              <a:t>,</a:t>
            </a:r>
            <a:r>
              <a:rPr lang="ko-KR" altLang="en-US" dirty="0"/>
              <a:t> 우주 항공 관련 분야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1990</a:t>
            </a:r>
            <a:r>
              <a:rPr lang="ko-KR" altLang="en-US" dirty="0"/>
              <a:t>년대 컴퓨터 비전과 응용 분야 급속히 확장 </a:t>
            </a:r>
            <a:endParaRPr lang="en-US" altLang="ko-KR" dirty="0"/>
          </a:p>
          <a:p>
            <a:pPr lvl="1"/>
            <a:r>
              <a:rPr lang="ko-KR" altLang="en-US" dirty="0"/>
              <a:t>인터넷 시대에 영상검색</a:t>
            </a:r>
            <a:r>
              <a:rPr lang="en-US" altLang="ko-KR" dirty="0"/>
              <a:t>, </a:t>
            </a:r>
            <a:r>
              <a:rPr lang="ko-KR" altLang="en-US" dirty="0"/>
              <a:t>영상전송</a:t>
            </a:r>
            <a:r>
              <a:rPr lang="en-US" altLang="ko-KR" dirty="0"/>
              <a:t>, </a:t>
            </a:r>
            <a:r>
              <a:rPr lang="ko-KR" altLang="en-US" dirty="0"/>
              <a:t>영상광고</a:t>
            </a:r>
            <a:endParaRPr lang="en-US" altLang="ko-KR" dirty="0"/>
          </a:p>
          <a:p>
            <a:pPr lvl="1"/>
            <a:r>
              <a:rPr lang="ko-KR" altLang="en-US" dirty="0"/>
              <a:t>디지털 방송 관련</a:t>
            </a:r>
            <a:r>
              <a:rPr lang="en-US" altLang="ko-KR" dirty="0"/>
              <a:t> </a:t>
            </a:r>
            <a:r>
              <a:rPr lang="ko-KR" altLang="en-US" dirty="0"/>
              <a:t>컴퓨터 그래픽스</a:t>
            </a:r>
            <a:r>
              <a:rPr lang="en-US" altLang="ko-KR" dirty="0"/>
              <a:t>, </a:t>
            </a:r>
            <a:r>
              <a:rPr lang="ko-KR" altLang="en-US" dirty="0"/>
              <a:t>디지털 카메라 보급</a:t>
            </a:r>
          </a:p>
        </p:txBody>
      </p:sp>
    </p:spTree>
    <p:extLst>
      <p:ext uri="{BB962C8B-B14F-4D97-AF65-F5344CB8AC3E}">
        <p14:creationId xmlns:p14="http://schemas.microsoft.com/office/powerpoint/2010/main" val="172626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1.4 </a:t>
            </a:r>
            <a:r>
              <a:rPr lang="ko-KR" altLang="en-US"/>
              <a:t>영상 처리 관련 분야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영상 처리 </a:t>
            </a:r>
            <a:r>
              <a:rPr lang="en-US" altLang="ko-KR" dirty="0"/>
              <a:t>- </a:t>
            </a:r>
            <a:r>
              <a:rPr lang="ko-KR" altLang="en-US" dirty="0"/>
              <a:t>입력 영상을 처리하여 출력으로 처리된 영상 획득</a:t>
            </a:r>
            <a:endParaRPr lang="en-US" altLang="ko-KR" dirty="0"/>
          </a:p>
          <a:p>
            <a:r>
              <a:rPr lang="ko-KR" altLang="en-US" dirty="0"/>
              <a:t>컴퓨터 비전 </a:t>
            </a:r>
            <a:r>
              <a:rPr lang="en-US" altLang="ko-KR" dirty="0"/>
              <a:t>- </a:t>
            </a:r>
            <a:r>
              <a:rPr lang="ko-KR" altLang="en-US" dirty="0"/>
              <a:t>입력은 영상</a:t>
            </a:r>
            <a:r>
              <a:rPr lang="en-US" altLang="ko-KR" dirty="0"/>
              <a:t>, </a:t>
            </a:r>
            <a:r>
              <a:rPr lang="ko-KR" altLang="en-US" dirty="0"/>
              <a:t>출력은 어떤 정보</a:t>
            </a:r>
            <a:endParaRPr lang="en-US" altLang="ko-KR" dirty="0"/>
          </a:p>
          <a:p>
            <a:pPr lvl="1"/>
            <a:r>
              <a:rPr lang="ko-KR" altLang="en-US" dirty="0"/>
              <a:t>얼굴인식</a:t>
            </a:r>
            <a:r>
              <a:rPr lang="en-US" altLang="ko-KR" dirty="0"/>
              <a:t>, </a:t>
            </a:r>
            <a:r>
              <a:rPr lang="ko-KR" altLang="en-US" dirty="0"/>
              <a:t>지문 인식</a:t>
            </a:r>
            <a:r>
              <a:rPr lang="en-US" altLang="ko-KR" dirty="0"/>
              <a:t>, </a:t>
            </a:r>
            <a:r>
              <a:rPr lang="ko-KR" altLang="en-US" dirty="0"/>
              <a:t>번호판 인식 등</a:t>
            </a:r>
            <a:endParaRPr lang="en-US" altLang="ko-KR" dirty="0"/>
          </a:p>
          <a:p>
            <a:r>
              <a:rPr lang="ko-KR" altLang="en-US" dirty="0" err="1"/>
              <a:t>컴퓨터그래픽스</a:t>
            </a:r>
            <a:r>
              <a:rPr lang="en-US" altLang="ko-KR" dirty="0"/>
              <a:t>- </a:t>
            </a:r>
            <a:r>
              <a:rPr lang="ko-KR" altLang="en-US" dirty="0"/>
              <a:t>입력이 어떤 서술이고</a:t>
            </a:r>
            <a:r>
              <a:rPr lang="en-US" altLang="ko-KR" dirty="0"/>
              <a:t>, </a:t>
            </a:r>
            <a:r>
              <a:rPr lang="ko-KR" altLang="en-US" dirty="0"/>
              <a:t>출력이 영상</a:t>
            </a:r>
          </a:p>
          <a:p>
            <a:pPr lvl="1"/>
            <a:r>
              <a:rPr lang="en-US" altLang="ko-KR" dirty="0"/>
              <a:t>CAD</a:t>
            </a:r>
            <a:r>
              <a:rPr lang="ko-KR" altLang="en-US" dirty="0"/>
              <a:t>프로그램 </a:t>
            </a:r>
            <a:r>
              <a:rPr lang="en-US" altLang="ko-KR" dirty="0"/>
              <a:t>- </a:t>
            </a:r>
            <a:r>
              <a:rPr lang="ko-KR" altLang="en-US" dirty="0"/>
              <a:t>그리고자 하는 물체의 수치 입력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해당 물체의 그래픽 영상 생성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077072"/>
            <a:ext cx="3960440" cy="2183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43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1.5 </a:t>
            </a:r>
            <a:r>
              <a:rPr lang="ko-KR" altLang="en-US" dirty="0"/>
              <a:t>영상의 형성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영상 </a:t>
            </a:r>
            <a:r>
              <a:rPr lang="en-US" altLang="ko-KR" dirty="0"/>
              <a:t>- </a:t>
            </a:r>
            <a:r>
              <a:rPr lang="ko-KR" altLang="en-US" dirty="0"/>
              <a:t>위치 값과 밝기 값을 가진 일정한 수의 </a:t>
            </a:r>
            <a:r>
              <a:rPr lang="ko-KR" altLang="en-US" dirty="0" err="1"/>
              <a:t>화소들의</a:t>
            </a:r>
            <a:r>
              <a:rPr lang="ko-KR" altLang="en-US" dirty="0"/>
              <a:t> 모임으로 정의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3"/>
          <a:stretch/>
        </p:blipFill>
        <p:spPr bwMode="auto">
          <a:xfrm>
            <a:off x="1475656" y="1772919"/>
            <a:ext cx="5256584" cy="2880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483768" y="5013176"/>
            <a:ext cx="33745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altLang="ko-KR" sz="2400" i="1" dirty="0">
                <a:latin typeface="Georgia" panose="02040502050405020303" pitchFamily="18" charset="0"/>
              </a:rPr>
              <a:t>f (x, y)=i(x, y) * r(x, y)</a:t>
            </a:r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5675359" y="4581128"/>
            <a:ext cx="696841" cy="367904"/>
          </a:xfrm>
          <a:prstGeom prst="wedgeRoundRectCallout">
            <a:avLst>
              <a:gd name="adj1" fmla="val -143371"/>
              <a:gd name="adj2" fmla="val 10162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 fontAlgn="base"/>
            <a:r>
              <a:rPr lang="ko-KR" altLang="en-US" sz="15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반사계수</a:t>
            </a:r>
            <a:endParaRPr lang="en-US" altLang="ko-KR" sz="15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모서리가 둥근 사각형 설명선 6"/>
          <p:cNvSpPr/>
          <p:nvPr/>
        </p:nvSpPr>
        <p:spPr>
          <a:xfrm>
            <a:off x="5317643" y="5805264"/>
            <a:ext cx="766525" cy="334458"/>
          </a:xfrm>
          <a:prstGeom prst="wedgeRoundRectCallout">
            <a:avLst>
              <a:gd name="adj1" fmla="val -203159"/>
              <a:gd name="adj2" fmla="val -17305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 fontAlgn="base"/>
            <a:r>
              <a:rPr lang="ko-KR" altLang="en-US" sz="15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조명의 세기</a:t>
            </a:r>
            <a:endParaRPr lang="en-US" altLang="ko-KR" sz="15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모서리가 둥근 사각형 설명선 7"/>
          <p:cNvSpPr/>
          <p:nvPr/>
        </p:nvSpPr>
        <p:spPr>
          <a:xfrm>
            <a:off x="1979712" y="5733256"/>
            <a:ext cx="575902" cy="334458"/>
          </a:xfrm>
          <a:prstGeom prst="wedgeRoundRectCallout">
            <a:avLst>
              <a:gd name="adj1" fmla="val 117347"/>
              <a:gd name="adj2" fmla="val -13023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 fontAlgn="base"/>
            <a:r>
              <a:rPr lang="ko-KR" altLang="en-US" sz="15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영상</a:t>
            </a:r>
            <a:endParaRPr lang="en-US" altLang="ko-KR" sz="15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40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1.5 </a:t>
            </a:r>
            <a:r>
              <a:rPr lang="ko-KR" altLang="en-US" dirty="0"/>
              <a:t>영상의 형성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양자화 </a:t>
            </a:r>
            <a:endParaRPr lang="en-US" altLang="ko-KR" dirty="0"/>
          </a:p>
          <a:p>
            <a:pPr lvl="1"/>
            <a:r>
              <a:rPr lang="ko-KR" altLang="en-US" dirty="0"/>
              <a:t>제한된 비트수로 </a:t>
            </a:r>
            <a:r>
              <a:rPr lang="ko-KR" altLang="en-US" dirty="0" err="1"/>
              <a:t>화소값을</a:t>
            </a:r>
            <a:r>
              <a:rPr lang="ko-KR" altLang="en-US" dirty="0"/>
              <a:t> 나타내려 밝기 값을 정수화 시키는 과정</a:t>
            </a:r>
          </a:p>
          <a:p>
            <a:r>
              <a:rPr lang="ko-KR" altLang="en-US" dirty="0"/>
              <a:t>샘플링 </a:t>
            </a:r>
            <a:endParaRPr lang="en-US" altLang="ko-KR" dirty="0"/>
          </a:p>
          <a:p>
            <a:pPr lvl="1"/>
            <a:r>
              <a:rPr lang="ko-KR" altLang="en-US" dirty="0"/>
              <a:t>무한한 연속된 값을 일정한 해상도에 따라 유한개의 </a:t>
            </a:r>
            <a:r>
              <a:rPr lang="ko-KR" altLang="en-US" dirty="0" err="1"/>
              <a:t>화소수만큼</a:t>
            </a:r>
            <a:r>
              <a:rPr lang="ko-KR" altLang="en-US" dirty="0"/>
              <a:t> 입력 값을 취하는 과정</a:t>
            </a:r>
            <a:endParaRPr lang="en-US" altLang="ko-K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212976"/>
            <a:ext cx="4910815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62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/>
          <a:stretch/>
        </p:blipFill>
        <p:spPr bwMode="auto">
          <a:xfrm>
            <a:off x="4932041" y="1628799"/>
            <a:ext cx="4211960" cy="378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1.6 </a:t>
            </a:r>
            <a:r>
              <a:rPr lang="ko-KR" altLang="en-US" dirty="0"/>
              <a:t>디지털 영상의 표현과 영상 처리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en-US" altLang="ko-KR" i="1" dirty="0"/>
              <a:t>M</a:t>
            </a:r>
            <a:r>
              <a:rPr lang="en-US" altLang="ko-KR" dirty="0"/>
              <a:t>×</a:t>
            </a:r>
            <a:r>
              <a:rPr lang="en-US" altLang="ko-KR" i="1" dirty="0"/>
              <a:t>N </a:t>
            </a:r>
            <a:r>
              <a:rPr lang="ko-KR" altLang="en-US" dirty="0"/>
              <a:t>크기 디지털 영상</a:t>
            </a:r>
            <a:endParaRPr lang="en-US" altLang="ko-KR" dirty="0"/>
          </a:p>
          <a:p>
            <a:pPr lvl="1"/>
            <a:r>
              <a:rPr lang="ko-KR" altLang="en-US" dirty="0"/>
              <a:t>표본화 수에 따라 </a:t>
            </a:r>
            <a:r>
              <a:rPr lang="en-US" altLang="ko-KR" dirty="0"/>
              <a:t>M, N </a:t>
            </a:r>
            <a:r>
              <a:rPr lang="ko-KR" altLang="en-US" dirty="0"/>
              <a:t>결정</a:t>
            </a:r>
            <a:endParaRPr lang="en-US" altLang="ko-KR" dirty="0"/>
          </a:p>
          <a:p>
            <a:pPr lvl="1"/>
            <a:r>
              <a:rPr lang="ko-KR" altLang="en-US" dirty="0"/>
              <a:t>양자화 수준에 따라 밝기 값 레벨 결정</a:t>
            </a:r>
            <a:endParaRPr lang="en-US" altLang="ko-KR" dirty="0"/>
          </a:p>
          <a:p>
            <a:pPr lvl="2"/>
            <a:r>
              <a:rPr lang="en-US" altLang="ko-KR" dirty="0"/>
              <a:t>k </a:t>
            </a:r>
            <a:r>
              <a:rPr lang="ko-KR" altLang="en-US" dirty="0"/>
              <a:t>비트로 양자화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en-US" altLang="ko-KR" baseline="30000" dirty="0">
                <a:sym typeface="Wingdings" panose="05000000000000000000" pitchFamily="2" charset="2"/>
              </a:rPr>
              <a:t>k</a:t>
            </a:r>
            <a:r>
              <a:rPr lang="ko-KR" altLang="en-US" dirty="0">
                <a:sym typeface="Wingdings" panose="05000000000000000000" pitchFamily="2" charset="2"/>
              </a:rPr>
              <a:t>개 레벨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8</a:t>
            </a:r>
            <a:r>
              <a:rPr lang="ko-KR" altLang="en-US" dirty="0">
                <a:sym typeface="Wingdings" panose="05000000000000000000" pitchFamily="2" charset="2"/>
              </a:rPr>
              <a:t>비트 양자화 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en-US" altLang="ko-KR" baseline="30000" dirty="0">
                <a:sym typeface="Wingdings" panose="05000000000000000000" pitchFamily="2" charset="2"/>
              </a:rPr>
              <a:t>8</a:t>
            </a:r>
            <a:r>
              <a:rPr lang="ko-KR" altLang="en-US" dirty="0">
                <a:sym typeface="Wingdings" panose="05000000000000000000" pitchFamily="2" charset="2"/>
              </a:rPr>
              <a:t>개 </a:t>
            </a:r>
            <a:r>
              <a:rPr lang="en-US" altLang="ko-KR" dirty="0">
                <a:sym typeface="Wingdings" panose="05000000000000000000" pitchFamily="2" charset="2"/>
              </a:rPr>
              <a:t>= 256</a:t>
            </a:r>
            <a:r>
              <a:rPr lang="ko-KR" altLang="en-US" dirty="0">
                <a:sym typeface="Wingdings" panose="05000000000000000000" pitchFamily="2" charset="2"/>
              </a:rPr>
              <a:t>개 레벨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i="1" dirty="0"/>
          </a:p>
        </p:txBody>
      </p:sp>
    </p:spTree>
    <p:extLst>
      <p:ext uri="{BB962C8B-B14F-4D97-AF65-F5344CB8AC3E}">
        <p14:creationId xmlns:p14="http://schemas.microsoft.com/office/powerpoint/2010/main" val="1554065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1.6 </a:t>
            </a:r>
            <a:r>
              <a:rPr lang="ko-KR" altLang="en-US"/>
              <a:t>디지털 영상의 표현과 영상 처리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디지털 영상 처리 개념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05770"/>
            <a:ext cx="7354063" cy="310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878" y="1628800"/>
            <a:ext cx="2571178" cy="55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4716016" y="2564904"/>
            <a:ext cx="2088232" cy="433741"/>
            <a:chOff x="4716016" y="2564904"/>
            <a:chExt cx="2088232" cy="433741"/>
          </a:xfrm>
        </p:grpSpPr>
        <p:sp>
          <p:nvSpPr>
            <p:cNvPr id="10" name="모서리가 둥근 사각형 설명선 9"/>
            <p:cNvSpPr/>
            <p:nvPr/>
          </p:nvSpPr>
          <p:spPr>
            <a:xfrm>
              <a:off x="4716016" y="2593951"/>
              <a:ext cx="2088232" cy="404694"/>
            </a:xfrm>
            <a:prstGeom prst="wedgeRoundRectCallout">
              <a:avLst>
                <a:gd name="adj1" fmla="val -88328"/>
                <a:gd name="adj2" fmla="val -183157"/>
                <a:gd name="adj3" fmla="val 16667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 fontAlgn="base"/>
              <a:r>
                <a:rPr lang="ko-KR" altLang="en-US" sz="1500" dirty="0" err="1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화소처리</a:t>
              </a:r>
              <a:r>
                <a:rPr lang="en-US" altLang="ko-KR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ko-KR" altLang="en-US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영상처리</a:t>
              </a:r>
              <a:r>
                <a:rPr lang="en-US" altLang="ko-KR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ko-KR" altLang="en-US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기하학 처리 등</a:t>
              </a:r>
              <a:endParaRPr lang="en-US" altLang="ko-KR" sz="15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모서리가 둥근 사각형 설명선 7"/>
            <p:cNvSpPr/>
            <p:nvPr/>
          </p:nvSpPr>
          <p:spPr>
            <a:xfrm>
              <a:off x="4716016" y="2564904"/>
              <a:ext cx="2088232" cy="404694"/>
            </a:xfrm>
            <a:prstGeom prst="wedgeRoundRectCallout">
              <a:avLst>
                <a:gd name="adj1" fmla="val -54036"/>
                <a:gd name="adj2" fmla="val 366742"/>
                <a:gd name="adj3" fmla="val 16667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 fontAlgn="base"/>
              <a:r>
                <a:rPr lang="ko-KR" altLang="en-US" sz="1500" dirty="0" err="1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화소처리</a:t>
              </a:r>
              <a:r>
                <a:rPr lang="en-US" altLang="ko-KR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ko-KR" altLang="en-US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영상처리</a:t>
              </a:r>
              <a:r>
                <a:rPr lang="en-US" altLang="ko-KR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ko-KR" altLang="en-US" sz="150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기하학 처리 등</a:t>
              </a:r>
              <a:endParaRPr lang="en-US" altLang="ko-KR" sz="15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모서리가 둥근 사각형 설명선 8"/>
          <p:cNvSpPr/>
          <p:nvPr/>
        </p:nvSpPr>
        <p:spPr>
          <a:xfrm>
            <a:off x="4428065" y="1124744"/>
            <a:ext cx="575902" cy="334458"/>
          </a:xfrm>
          <a:prstGeom prst="wedgeRoundRectCallout">
            <a:avLst>
              <a:gd name="adj1" fmla="val -22300"/>
              <a:gd name="adj2" fmla="val 16622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 fontAlgn="base"/>
            <a:r>
              <a:rPr lang="ko-KR" altLang="en-US" sz="15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영상</a:t>
            </a:r>
            <a:endParaRPr lang="en-US" altLang="ko-KR" sz="15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1631211" y="2276872"/>
            <a:ext cx="696841" cy="334458"/>
          </a:xfrm>
          <a:prstGeom prst="wedgeRoundRectCallout">
            <a:avLst>
              <a:gd name="adj1" fmla="val 146042"/>
              <a:gd name="adj2" fmla="val -10717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 fontAlgn="base"/>
            <a:r>
              <a:rPr lang="ko-KR" altLang="en-US" sz="15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결과영상</a:t>
            </a:r>
            <a:endParaRPr lang="en-US" altLang="ko-KR" sz="15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17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1.7 </a:t>
            </a:r>
            <a:r>
              <a:rPr lang="ko-KR" altLang="en-US" dirty="0"/>
              <a:t>영상 처리 응용 분야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의료 분야 </a:t>
            </a:r>
            <a:r>
              <a:rPr lang="en-US" altLang="ko-KR" dirty="0"/>
              <a:t>(</a:t>
            </a:r>
            <a:r>
              <a:rPr lang="ko-KR" altLang="en-US" dirty="0"/>
              <a:t>방사선</a:t>
            </a:r>
            <a:r>
              <a:rPr lang="en-US" altLang="ko-KR" dirty="0"/>
              <a:t>, </a:t>
            </a:r>
            <a:r>
              <a:rPr lang="ko-KR" altLang="en-US" dirty="0"/>
              <a:t>초음파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컴퓨터 단층촬영</a:t>
            </a:r>
            <a:r>
              <a:rPr lang="en-US" altLang="ko-KR" dirty="0"/>
              <a:t>(CT), </a:t>
            </a:r>
            <a:r>
              <a:rPr lang="ko-KR" altLang="en-US" dirty="0"/>
              <a:t>자기 공명영상 </a:t>
            </a:r>
            <a:r>
              <a:rPr lang="en-US" altLang="ko-KR" dirty="0"/>
              <a:t>(MRI)</a:t>
            </a:r>
          </a:p>
          <a:p>
            <a:pPr lvl="1"/>
            <a:r>
              <a:rPr lang="ko-KR" altLang="en-US" dirty="0"/>
              <a:t>양전자 단층촬영</a:t>
            </a:r>
            <a:r>
              <a:rPr lang="en-US" altLang="ko-KR" dirty="0"/>
              <a:t>(PET)</a:t>
            </a:r>
          </a:p>
          <a:p>
            <a:endParaRPr lang="en-US" altLang="ko-KR" dirty="0"/>
          </a:p>
          <a:p>
            <a:r>
              <a:rPr lang="ko-KR" altLang="en-US" dirty="0"/>
              <a:t>방송 통신 분야</a:t>
            </a:r>
            <a:endParaRPr lang="en-US" altLang="ko-KR" dirty="0"/>
          </a:p>
          <a:p>
            <a:pPr lvl="1"/>
            <a:r>
              <a:rPr lang="ko-KR" altLang="en-US" dirty="0"/>
              <a:t>디지털 방송 서비스로 인한 영상처리 기술 발달</a:t>
            </a:r>
            <a:endParaRPr lang="en-US" altLang="ko-KR" dirty="0"/>
          </a:p>
          <a:p>
            <a:pPr lvl="1"/>
            <a:r>
              <a:rPr lang="ko-KR" altLang="en-US" dirty="0"/>
              <a:t>스포츠 방송 분야에 영상 처리 기술 적용 </a:t>
            </a:r>
            <a:r>
              <a:rPr lang="en-US" altLang="ko-KR" dirty="0"/>
              <a:t>, </a:t>
            </a:r>
            <a:r>
              <a:rPr lang="ko-KR" altLang="en-US" dirty="0"/>
              <a:t>가상광고 분야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59" y="1268760"/>
            <a:ext cx="2887113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3" r="6237"/>
          <a:stretch/>
        </p:blipFill>
        <p:spPr bwMode="auto">
          <a:xfrm>
            <a:off x="2987824" y="4697762"/>
            <a:ext cx="2985133" cy="19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7" r="12119"/>
          <a:stretch/>
        </p:blipFill>
        <p:spPr bwMode="auto">
          <a:xfrm>
            <a:off x="6109107" y="4697762"/>
            <a:ext cx="2675782" cy="19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5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1.7 </a:t>
            </a:r>
            <a:r>
              <a:rPr lang="ko-KR" altLang="en-US" dirty="0"/>
              <a:t>영상 처리 응용 분야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공장 자동화 분야</a:t>
            </a:r>
            <a:endParaRPr lang="en-US" altLang="ko-KR" dirty="0"/>
          </a:p>
          <a:p>
            <a:pPr lvl="1"/>
            <a:r>
              <a:rPr lang="ko-KR" altLang="en-US" dirty="0"/>
              <a:t>산업용 카메라로 제품 품질 모니터링 및 불량 제거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출판 및 사진 분야</a:t>
            </a:r>
            <a:endParaRPr lang="en-US" altLang="ko-KR" dirty="0"/>
          </a:p>
          <a:p>
            <a:pPr lvl="1"/>
            <a:r>
              <a:rPr lang="ko-KR" altLang="en-US" dirty="0"/>
              <a:t>영상 생성</a:t>
            </a:r>
            <a:r>
              <a:rPr lang="en-US" altLang="ko-KR" dirty="0"/>
              <a:t>,  </a:t>
            </a:r>
            <a:r>
              <a:rPr lang="ko-KR" altLang="en-US" dirty="0"/>
              <a:t>품질 향상</a:t>
            </a:r>
            <a:r>
              <a:rPr lang="en-US" altLang="ko-KR" dirty="0"/>
              <a:t>, </a:t>
            </a:r>
            <a:r>
              <a:rPr lang="ko-KR" altLang="en-US" dirty="0"/>
              <a:t>색상을 조작 등의 작업을 위해 영상 처리 기술 사용</a:t>
            </a:r>
            <a:endParaRPr lang="en-US" altLang="ko-KR" dirty="0"/>
          </a:p>
          <a:p>
            <a:pPr lvl="1"/>
            <a:r>
              <a:rPr lang="ko-KR" altLang="en-US" dirty="0"/>
              <a:t>기존 영상에 영상 처리 기술을 융합하여 새로운 합성 영상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56" y="4725144"/>
            <a:ext cx="28575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824707"/>
            <a:ext cx="1790060" cy="226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135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1.7 </a:t>
            </a:r>
            <a:r>
              <a:rPr lang="ko-KR" altLang="en-US" dirty="0"/>
              <a:t>영상 처리 응용 분야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en-US" altLang="ko-KR" dirty="0"/>
              <a:t>5) </a:t>
            </a:r>
            <a:r>
              <a:rPr lang="ko-KR" altLang="en-US" dirty="0"/>
              <a:t>애니메이션 및 게임 분야</a:t>
            </a:r>
            <a:endParaRPr lang="en-US" altLang="ko-KR" dirty="0"/>
          </a:p>
          <a:p>
            <a:pPr lvl="1"/>
            <a:r>
              <a:rPr lang="ko-KR" altLang="en-US" dirty="0"/>
              <a:t>촬영된 영상과 그래픽 기술이 조합 </a:t>
            </a:r>
            <a:endParaRPr lang="en-US" altLang="ko-KR" dirty="0"/>
          </a:p>
          <a:p>
            <a:pPr lvl="1"/>
            <a:r>
              <a:rPr lang="ko-KR" altLang="en-US" dirty="0"/>
              <a:t>현실감 향상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6) </a:t>
            </a:r>
            <a:r>
              <a:rPr lang="ko-KR" altLang="en-US" dirty="0"/>
              <a:t>기상 및 지질 탐사 분야</a:t>
            </a:r>
            <a:endParaRPr lang="en-US" altLang="ko-KR" dirty="0"/>
          </a:p>
          <a:p>
            <a:pPr lvl="1"/>
            <a:r>
              <a:rPr lang="ko-KR" altLang="en-US" dirty="0"/>
              <a:t>방대한 기상 정보를 이용의 시각화</a:t>
            </a:r>
            <a:endParaRPr lang="en-US" altLang="ko-KR" dirty="0"/>
          </a:p>
          <a:p>
            <a:pPr lvl="1"/>
            <a:r>
              <a:rPr lang="ko-KR" altLang="en-US" dirty="0"/>
              <a:t>다양한 주파수의 사진들을 영상 처리 기술로 표현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11" y="4040088"/>
            <a:ext cx="20288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145" y="1017691"/>
            <a:ext cx="2886125" cy="180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731" y="2098043"/>
            <a:ext cx="252518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509120"/>
            <a:ext cx="2088231" cy="208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5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1.7 </a:t>
            </a:r>
            <a:r>
              <a:rPr lang="ko-KR" altLang="en-US" dirty="0"/>
              <a:t>영상 처리 응용 분야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4294967295"/>
          </p:nvPr>
        </p:nvSpPr>
        <p:spPr>
          <a:xfrm>
            <a:off x="574675" y="1052513"/>
            <a:ext cx="8569325" cy="5329237"/>
          </a:xfrm>
        </p:spPr>
        <p:txBody>
          <a:bodyPr/>
          <a:lstStyle/>
          <a:p>
            <a:r>
              <a:rPr lang="ko-KR" altLang="en-US" dirty="0"/>
              <a:t>기타 영상 처리 분야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800"/>
            <a:ext cx="5777442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730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단원 요약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4294967295"/>
          </p:nvPr>
        </p:nvSpPr>
        <p:spPr>
          <a:xfrm>
            <a:off x="503238" y="1027113"/>
            <a:ext cx="8640762" cy="5426075"/>
          </a:xfrm>
        </p:spPr>
        <p:txBody>
          <a:bodyPr>
            <a:normAutofit/>
          </a:bodyPr>
          <a:lstStyle/>
          <a:p>
            <a:r>
              <a:rPr lang="ko-KR" altLang="en-US" dirty="0"/>
              <a:t>영상 처리는 어떤 목적을 위해</a:t>
            </a:r>
            <a:r>
              <a:rPr lang="en-US" altLang="ko-KR" dirty="0"/>
              <a:t>, </a:t>
            </a:r>
            <a:r>
              <a:rPr lang="ko-KR" altLang="en-US" dirty="0"/>
              <a:t>입력영상에 수학적 연산을 </a:t>
            </a:r>
            <a:r>
              <a:rPr lang="ko-KR" altLang="en-US" dirty="0" err="1"/>
              <a:t>화소에</a:t>
            </a:r>
            <a:r>
              <a:rPr lang="ko-KR" altLang="en-US" dirty="0"/>
              <a:t> 가해 변화 주는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 처리는 잡음 제거와 같은 </a:t>
            </a:r>
            <a:r>
              <a:rPr lang="ko-KR" altLang="en-US" dirty="0" err="1"/>
              <a:t>저수준</a:t>
            </a:r>
            <a:r>
              <a:rPr lang="ko-KR" altLang="en-US" dirty="0"/>
              <a:t> 영상 처리로부터 물체 인식과 같은 고수준 영상 처리까지 포함한다</a:t>
            </a:r>
            <a:r>
              <a:rPr lang="en-US" altLang="ko-KR" dirty="0"/>
              <a:t>. </a:t>
            </a:r>
            <a:r>
              <a:rPr lang="ko-KR" altLang="en-US" dirty="0"/>
              <a:t>기본적인 영상 처리는 </a:t>
            </a:r>
            <a:r>
              <a:rPr lang="ko-KR" altLang="en-US" dirty="0" err="1"/>
              <a:t>저수준</a:t>
            </a:r>
            <a:r>
              <a:rPr lang="ko-KR" altLang="en-US" dirty="0"/>
              <a:t> 영상 처리를 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 처리의 역사는 </a:t>
            </a:r>
            <a:r>
              <a:rPr lang="en-US" altLang="ko-KR" dirty="0"/>
              <a:t>IT </a:t>
            </a:r>
            <a:r>
              <a:rPr lang="ko-KR" altLang="en-US" dirty="0"/>
              <a:t>기술에 힘입어 </a:t>
            </a:r>
            <a:r>
              <a:rPr lang="en-US" altLang="ko-KR" dirty="0"/>
              <a:t>1960</a:t>
            </a:r>
            <a:r>
              <a:rPr lang="ko-KR" altLang="en-US" dirty="0"/>
              <a:t>년대 초부터 본격적으로 가능하게 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 처리의 관련 분야인 컴퓨터 비전</a:t>
            </a:r>
            <a:r>
              <a:rPr lang="en-US" altLang="ko-KR" dirty="0"/>
              <a:t>, </a:t>
            </a:r>
            <a:r>
              <a:rPr lang="ko-KR" altLang="en-US" dirty="0"/>
              <a:t>컴퓨터그래픽스는 서로 관련이 있고 서로의 구분은 입력의 형태로 구분할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영상의 형성은 광원으로부터 물체에 비친 빛이 카메라 센서를 통해 영상을 형성한다</a:t>
            </a:r>
            <a:r>
              <a:rPr lang="en-US" altLang="ko-KR" dirty="0"/>
              <a:t>. </a:t>
            </a:r>
            <a:r>
              <a:rPr lang="ko-KR" altLang="en-US" dirty="0"/>
              <a:t>영상 </a:t>
            </a:r>
            <a:r>
              <a:rPr lang="en-US" altLang="ko-KR" i="1" dirty="0"/>
              <a:t>f</a:t>
            </a:r>
            <a:r>
              <a:rPr lang="en-US" altLang="ko-KR" dirty="0"/>
              <a:t>(</a:t>
            </a:r>
            <a:r>
              <a:rPr lang="en-US" altLang="ko-KR" i="1" dirty="0" err="1"/>
              <a:t>x</a:t>
            </a:r>
            <a:r>
              <a:rPr lang="en-US" altLang="ko-KR" dirty="0" err="1"/>
              <a:t>,</a:t>
            </a:r>
            <a:r>
              <a:rPr lang="en-US" altLang="ko-KR" i="1" dirty="0" err="1"/>
              <a:t>y</a:t>
            </a:r>
            <a:r>
              <a:rPr lang="en-US" altLang="ko-KR" dirty="0"/>
              <a:t>)</a:t>
            </a:r>
            <a:r>
              <a:rPr lang="ko-KR" altLang="en-US" dirty="0"/>
              <a:t>는 조명의 세기 </a:t>
            </a:r>
            <a:r>
              <a:rPr lang="en-US" altLang="ko-KR" i="1" dirty="0" err="1"/>
              <a:t>i</a:t>
            </a:r>
            <a:r>
              <a:rPr lang="en-US" altLang="ko-KR" dirty="0"/>
              <a:t>(</a:t>
            </a:r>
            <a:r>
              <a:rPr lang="en-US" altLang="ko-KR" i="1" dirty="0" err="1"/>
              <a:t>x</a:t>
            </a:r>
            <a:r>
              <a:rPr lang="en-US" altLang="ko-KR" dirty="0" err="1"/>
              <a:t>,</a:t>
            </a:r>
            <a:r>
              <a:rPr lang="en-US" altLang="ko-KR" i="1" dirty="0" err="1"/>
              <a:t>y</a:t>
            </a:r>
            <a:r>
              <a:rPr lang="en-US" altLang="ko-KR" dirty="0"/>
              <a:t>)</a:t>
            </a:r>
            <a:r>
              <a:rPr lang="ko-KR" altLang="en-US" dirty="0"/>
              <a:t>와 반사계수 </a:t>
            </a:r>
            <a:r>
              <a:rPr lang="en-US" altLang="ko-KR" i="1" dirty="0"/>
              <a:t>r</a:t>
            </a:r>
            <a:r>
              <a:rPr lang="en-US" altLang="ko-KR" dirty="0"/>
              <a:t>(</a:t>
            </a:r>
            <a:r>
              <a:rPr lang="en-US" altLang="ko-KR" i="1" dirty="0" err="1"/>
              <a:t>x</a:t>
            </a:r>
            <a:r>
              <a:rPr lang="en-US" altLang="ko-KR" dirty="0" err="1"/>
              <a:t>,</a:t>
            </a:r>
            <a:r>
              <a:rPr lang="en-US" altLang="ko-KR" i="1" dirty="0" err="1"/>
              <a:t>y</a:t>
            </a:r>
            <a:r>
              <a:rPr lang="en-US" altLang="ko-KR" dirty="0"/>
              <a:t>)</a:t>
            </a:r>
            <a:r>
              <a:rPr lang="ko-KR" altLang="en-US" dirty="0"/>
              <a:t>의 곱으로 나타난다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디지털 영상은 표본화</a:t>
            </a:r>
            <a:r>
              <a:rPr lang="en-US" altLang="ko-KR" dirty="0"/>
              <a:t>(sampling)</a:t>
            </a:r>
            <a:r>
              <a:rPr lang="ko-KR" altLang="en-US" dirty="0"/>
              <a:t>와 양자화</a:t>
            </a:r>
            <a:r>
              <a:rPr lang="en-US" altLang="ko-KR" dirty="0"/>
              <a:t>(quantization) </a:t>
            </a:r>
            <a:r>
              <a:rPr lang="ko-KR" altLang="en-US" dirty="0"/>
              <a:t>단계를 거쳐서 일정한 </a:t>
            </a:r>
            <a:r>
              <a:rPr lang="ko-KR" altLang="en-US" dirty="0" err="1"/>
              <a:t>수의화소의</a:t>
            </a:r>
            <a:r>
              <a:rPr lang="ko-KR" altLang="en-US" dirty="0"/>
              <a:t> 집합 </a:t>
            </a:r>
            <a:r>
              <a:rPr lang="en-US" altLang="ko-KR" i="1" dirty="0"/>
              <a:t>M</a:t>
            </a:r>
            <a:r>
              <a:rPr lang="en-US" altLang="ko-KR" dirty="0"/>
              <a:t>×</a:t>
            </a:r>
            <a:r>
              <a:rPr lang="en-US" altLang="ko-KR" i="1" dirty="0"/>
              <a:t>N </a:t>
            </a:r>
            <a:r>
              <a:rPr lang="ko-KR" altLang="en-US" dirty="0"/>
              <a:t>크기로 표현된다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영상 처리는 의료 분야</a:t>
            </a:r>
            <a:r>
              <a:rPr lang="en-US" altLang="ko-KR" dirty="0"/>
              <a:t>, </a:t>
            </a:r>
            <a:r>
              <a:rPr lang="ko-KR" altLang="en-US" dirty="0"/>
              <a:t>방송통신 분야를 포함한 최근의 계산 사진학과 같은 다양한 응용분야들을 가지고 있고</a:t>
            </a:r>
            <a:r>
              <a:rPr lang="en-US" altLang="ko-KR" dirty="0"/>
              <a:t>, </a:t>
            </a:r>
            <a:r>
              <a:rPr lang="ko-KR" altLang="en-US" dirty="0"/>
              <a:t>그 응응 분야가 점차 확대되고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249181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바인드소프트</Template>
  <TotalTime>174</TotalTime>
  <Words>734</Words>
  <Application>Microsoft Office PowerPoint</Application>
  <PresentationFormat>화면 슬라이드 쇼(4:3)</PresentationFormat>
  <Paragraphs>124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HY견고딕</vt:lpstr>
      <vt:lpstr>맑은 고딕</vt:lpstr>
      <vt:lpstr>Arial</vt:lpstr>
      <vt:lpstr>Georgia</vt:lpstr>
      <vt:lpstr>Times New Roman</vt:lpstr>
      <vt:lpstr>Wingdings</vt:lpstr>
      <vt:lpstr>바인드소프트</vt:lpstr>
      <vt:lpstr>CHAPTER 01영상 처리 개요</vt:lpstr>
      <vt:lpstr>목차</vt:lpstr>
      <vt:lpstr>1.1영상 처리란?</vt:lpstr>
      <vt:lpstr>1.1영상 처리란?</vt:lpstr>
      <vt:lpstr>1.2 영상처리의 수준</vt:lpstr>
      <vt:lpstr>1.3 영상 처리의 역사</vt:lpstr>
      <vt:lpstr>1.3 영상 처리의 역사</vt:lpstr>
      <vt:lpstr>1.4 영상 처리 관련 분야</vt:lpstr>
      <vt:lpstr>1.5 영상의 형성 과정</vt:lpstr>
      <vt:lpstr>1.5 영상의 형성 과정</vt:lpstr>
      <vt:lpstr>1.6 디지털 영상의 표현과 영상 처리</vt:lpstr>
      <vt:lpstr>1.6 디지털 영상의 표현과 영상 처리</vt:lpstr>
      <vt:lpstr>1.7 영상 처리 응용 분야</vt:lpstr>
      <vt:lpstr>1.7 영상 처리 응용 분야</vt:lpstr>
      <vt:lpstr>1.7 영상 처리 응용 분야</vt:lpstr>
      <vt:lpstr>1.7 영상 처리 응용 분야</vt:lpstr>
      <vt:lpstr>단원 요약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bae22</dc:creator>
  <cp:lastModifiedBy>Sugil Choi</cp:lastModifiedBy>
  <cp:revision>102</cp:revision>
  <dcterms:created xsi:type="dcterms:W3CDTF">2017-02-21T08:17:22Z</dcterms:created>
  <dcterms:modified xsi:type="dcterms:W3CDTF">2025-10-24T01:13:57Z</dcterms:modified>
</cp:coreProperties>
</file>