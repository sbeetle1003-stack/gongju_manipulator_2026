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2" r:id="rId1"/>
  </p:sldMasterIdLst>
  <p:notesMasterIdLst>
    <p:notesMasterId r:id="rId10"/>
  </p:notesMasterIdLst>
  <p:handoutMasterIdLst>
    <p:handoutMasterId r:id="rId11"/>
  </p:handoutMasterIdLst>
  <p:sldIdLst>
    <p:sldId id="256" r:id="rId2"/>
    <p:sldId id="288" r:id="rId3"/>
    <p:sldId id="289" r:id="rId4"/>
    <p:sldId id="290" r:id="rId5"/>
    <p:sldId id="291" r:id="rId6"/>
    <p:sldId id="292" r:id="rId7"/>
    <p:sldId id="293" r:id="rId8"/>
    <p:sldId id="294" r:id="rId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1540" y="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141" d="100"/>
          <a:sy n="141" d="100"/>
        </p:scale>
        <p:origin x="-1332" y="-12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C269C3-C25E-41E8-815A-55A10694EC72}" type="datetimeFigureOut">
              <a:rPr lang="ko-KR" altLang="en-US" smtClean="0"/>
              <a:t>2023-12-19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70691-BFF7-46A3-A51C-EDFA8C5FB6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011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E0290A-1521-4E2C-B981-7952210E2E19}" type="datetimeFigureOut">
              <a:rPr lang="ko-KR" altLang="en-US" smtClean="0"/>
              <a:t>2023-12-19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EE1D8-CF94-4B34-B47A-3155D616A20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062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50052" cy="3046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95536" y="4293096"/>
            <a:ext cx="8352928" cy="85034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u="none" baseline="0">
                <a:solidFill>
                  <a:schemeClr val="tx1"/>
                </a:solidFill>
                <a:latin typeface="HY견고딕" pitchFamily="18" charset="-127"/>
                <a:ea typeface="HY견고딕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소단원 및 부제목</a:t>
            </a:r>
            <a:endParaRPr lang="en-US" altLang="ko-KR" smtClean="0"/>
          </a:p>
        </p:txBody>
      </p:sp>
      <p:sp>
        <p:nvSpPr>
          <p:cNvPr id="36" name="제목 1"/>
          <p:cNvSpPr txBox="1">
            <a:spLocks/>
          </p:cNvSpPr>
          <p:nvPr/>
        </p:nvSpPr>
        <p:spPr>
          <a:xfrm>
            <a:off x="-6052" y="1"/>
            <a:ext cx="9150052" cy="3046842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3600" b="1" kern="1200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HY견고딕" pitchFamily="18" charset="-127"/>
                <a:ea typeface="HY견고딕" pitchFamily="18" charset="-127"/>
                <a:cs typeface="+mj-cs"/>
              </a:defRPr>
            </a:lvl1pPr>
          </a:lstStyle>
          <a:p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-11906" y="973852"/>
            <a:ext cx="9144000" cy="3024336"/>
          </a:xfrm>
          <a:gradFill>
            <a:gsLst>
              <a:gs pos="100000">
                <a:schemeClr val="bg1">
                  <a:alpha val="79000"/>
                </a:scheme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wrap="none"/>
          <a:lstStyle>
            <a:lvl1pPr marL="0" marR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1" cap="all" spc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defRPr>
            </a:lvl1pPr>
          </a:lstStyle>
          <a:p>
            <a:r>
              <a:rPr lang="en-US" altLang="ko-KR" smtClean="0"/>
              <a:t> </a:t>
            </a:r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399976" y="5628704"/>
            <a:ext cx="8280920" cy="720080"/>
          </a:xfrm>
          <a:prstGeom prst="rect">
            <a:avLst/>
          </a:prstGeom>
          <a:gradFill>
            <a:gsLst>
              <a:gs pos="100000">
                <a:schemeClr val="bg1"/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ko-KR" altLang="en-US" sz="1400" u="sng" dirty="0" smtClean="0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㈜</a:t>
            </a:r>
            <a:r>
              <a:rPr lang="ko-KR" altLang="en-US" sz="1400" u="sng" dirty="0" err="1" smtClean="0">
                <a:solidFill>
                  <a:schemeClr val="bg1">
                    <a:lumMod val="50000"/>
                  </a:schemeClr>
                </a:solidFill>
                <a:latin typeface="HY견고딕" pitchFamily="18" charset="-127"/>
                <a:ea typeface="HY견고딕" pitchFamily="18" charset="-127"/>
              </a:rPr>
              <a:t>바인드소프트</a:t>
            </a:r>
            <a:endParaRPr lang="ko-KR" altLang="en-US" sz="1400" u="sng" dirty="0" smtClean="0">
              <a:solidFill>
                <a:schemeClr val="bg1">
                  <a:lumMod val="50000"/>
                </a:schemeClr>
              </a:solidFill>
              <a:latin typeface="HY견고딕" pitchFamily="18" charset="-127"/>
              <a:ea typeface="HY견고딕" pitchFamily="18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60" y="-234125"/>
            <a:ext cx="1224136" cy="1207976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5517232"/>
            <a:ext cx="648072" cy="639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2630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29"/>
          <p:cNvGrpSpPr/>
          <p:nvPr/>
        </p:nvGrpSpPr>
        <p:grpSpPr>
          <a:xfrm>
            <a:off x="357158" y="4357694"/>
            <a:ext cx="8072494" cy="71438"/>
            <a:chOff x="357158" y="4357694"/>
            <a:chExt cx="8072494" cy="71438"/>
          </a:xfrm>
        </p:grpSpPr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r="7467" b="3225"/>
            <a:stretch>
              <a:fillRect/>
            </a:stretch>
          </p:blipFill>
          <p:spPr bwMode="auto">
            <a:xfrm>
              <a:off x="357158" y="4357694"/>
              <a:ext cx="1301694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2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1658852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3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2617995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4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3577138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4536281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6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5495424" y="4357694"/>
              <a:ext cx="959143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7" name="Picture 4"/>
            <p:cNvPicPr>
              <a:picLocks noChangeAspect="1" noChangeArrowheads="1"/>
            </p:cNvPicPr>
            <p:nvPr/>
          </p:nvPicPr>
          <p:blipFill>
            <a:blip r:embed="rId2" cstate="print"/>
            <a:srcRect l="24351" r="7467" b="3225"/>
            <a:stretch>
              <a:fillRect/>
            </a:stretch>
          </p:blipFill>
          <p:spPr bwMode="auto">
            <a:xfrm>
              <a:off x="6454567" y="4357694"/>
              <a:ext cx="1975085" cy="714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1071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582594"/>
          </a:xfrm>
        </p:spPr>
        <p:txBody>
          <a:bodyPr/>
          <a:lstStyle>
            <a:lvl1pPr algn="l"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429396"/>
            <a:ext cx="2895600" cy="292079"/>
          </a:xfrm>
        </p:spPr>
        <p:txBody>
          <a:bodyPr/>
          <a:lstStyle/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6553200" y="6429396"/>
            <a:ext cx="2133600" cy="292079"/>
          </a:xfrm>
        </p:spPr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928670"/>
            <a:ext cx="8229600" cy="550072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 dirty="0"/>
          </a:p>
        </p:txBody>
      </p:sp>
      <p:cxnSp>
        <p:nvCxnSpPr>
          <p:cNvPr id="11" name="직선 연결선 10"/>
          <p:cNvCxnSpPr/>
          <p:nvPr/>
        </p:nvCxnSpPr>
        <p:spPr>
          <a:xfrm>
            <a:off x="467544" y="620688"/>
            <a:ext cx="8208912" cy="0"/>
          </a:xfrm>
          <a:prstGeom prst="line">
            <a:avLst/>
          </a:prstGeom>
          <a:ln w="19050">
            <a:gradFill flip="none" rotWithShape="1">
              <a:gsLst>
                <a:gs pos="0">
                  <a:srgbClr val="FFFFFF"/>
                </a:gs>
                <a:gs pos="7001">
                  <a:srgbClr val="E6E6E6"/>
                </a:gs>
                <a:gs pos="32001">
                  <a:srgbClr val="7D8496"/>
                </a:gs>
                <a:gs pos="47000">
                  <a:srgbClr val="E6E6E6"/>
                </a:gs>
                <a:gs pos="85001">
                  <a:srgbClr val="7D8496"/>
                </a:gs>
                <a:gs pos="100000">
                  <a:srgbClr val="E6E6E6"/>
                </a:gs>
              </a:gsLst>
              <a:lin ang="0" scaled="1"/>
              <a:tileRect/>
            </a:gra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9948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F:\images\design\2016.09.12 엣지아이랩 ppt 템플릿\line_yellow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20"/>
            <a:ext cx="9144000" cy="273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15" descr="F:\images\design\2016.09.12 엣지아이랩 ppt 템플릿\line_blue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12396"/>
            <a:ext cx="9144000" cy="245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620688"/>
            <a:ext cx="8229600" cy="55943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45471"/>
            <a:ext cx="8229600" cy="4032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-146852"/>
            <a:ext cx="738064" cy="72832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6120213"/>
            <a:ext cx="738064" cy="728321"/>
          </a:xfrm>
          <a:prstGeom prst="rect">
            <a:avLst/>
          </a:prstGeom>
        </p:spPr>
      </p:pic>
      <p:sp>
        <p:nvSpPr>
          <p:cNvPr id="12" name="직사각형 11"/>
          <p:cNvSpPr/>
          <p:nvPr userDrawn="1"/>
        </p:nvSpPr>
        <p:spPr bwMode="white">
          <a:xfrm>
            <a:off x="0" y="830844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379027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3" r:id="rId1"/>
    <p:sldLayoutId id="2147483944" r:id="rId2"/>
    <p:sldLayoutId id="2147483945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spcBef>
          <a:spcPct val="0"/>
        </a:spcBef>
        <a:buNone/>
        <a:defRPr sz="2000" b="0" kern="12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Clr>
          <a:schemeClr val="accent6">
            <a:lumMod val="75000"/>
          </a:schemeClr>
        </a:buClr>
        <a:buFont typeface="Wingdings" pitchFamily="2" charset="2"/>
        <a:buChar char="l"/>
        <a:defRPr sz="1600" kern="120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600" kern="1200">
          <a:solidFill>
            <a:schemeClr val="tx1"/>
          </a:solidFill>
          <a:latin typeface="+mn-ea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Clr>
          <a:srgbClr val="FF9933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ea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Clr>
          <a:srgbClr val="3399FF"/>
        </a:buClr>
        <a:buFont typeface="Arial" pitchFamily="34" charset="0"/>
        <a:buChar char="–"/>
        <a:defRPr sz="1600" kern="1200">
          <a:solidFill>
            <a:schemeClr val="tx1"/>
          </a:solidFill>
          <a:latin typeface="+mn-ea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Clr>
          <a:srgbClr val="FF9933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ea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 smtClean="0"/>
              <a:t>비디오처리</a:t>
            </a:r>
            <a:r>
              <a:rPr lang="ko-KR" altLang="en-US" dirty="0" smtClean="0"/>
              <a:t> 및 기계학습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CHAPTER </a:t>
            </a:r>
            <a:r>
              <a:rPr lang="en-US" altLang="ko-KR" b="1" dirty="0" smtClean="0"/>
              <a:t>09  </a:t>
            </a:r>
            <a:r>
              <a:rPr lang="ko-KR" altLang="en-US" dirty="0" err="1" smtClean="0"/>
              <a:t>비디오처리</a:t>
            </a:r>
            <a:r>
              <a:rPr lang="ko-KR" altLang="en-US" dirty="0" smtClean="0"/>
              <a:t> 및 기계학습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7798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smtClean="0"/>
              <a:t>9.1 </a:t>
            </a:r>
            <a:r>
              <a:rPr lang="ko-KR" altLang="en-US" dirty="0" smtClean="0"/>
              <a:t>평균 배경 차 영상 </a:t>
            </a:r>
            <a:endParaRPr lang="en-US" altLang="ko-KR" dirty="0" smtClean="0"/>
          </a:p>
          <a:p>
            <a:r>
              <a:rPr lang="en-US" altLang="ko-KR" dirty="0" smtClean="0"/>
              <a:t>9.2 </a:t>
            </a:r>
            <a:r>
              <a:rPr lang="en-US" altLang="ko-KR" dirty="0" err="1" smtClean="0"/>
              <a:t>Kalman</a:t>
            </a:r>
            <a:r>
              <a:rPr lang="en-US" altLang="ko-KR" dirty="0" smtClean="0"/>
              <a:t> Filter </a:t>
            </a:r>
            <a:r>
              <a:rPr lang="ko-KR" altLang="en-US" dirty="0" smtClean="0"/>
              <a:t>물체 추적</a:t>
            </a:r>
            <a:endParaRPr lang="en-US" altLang="ko-KR" dirty="0" smtClean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2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532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9.1 </a:t>
            </a:r>
            <a:r>
              <a:rPr lang="ko-KR" altLang="en-US" dirty="0" smtClean="0"/>
              <a:t>평균 배경 차 영상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배경과 전경의 물체를 분할 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프레임 영상 사이의 </a:t>
            </a:r>
            <a:r>
              <a:rPr lang="ko-KR" altLang="en-US" dirty="0" err="1" smtClean="0"/>
              <a:t>화소</a:t>
            </a:r>
            <a:r>
              <a:rPr lang="ko-KR" altLang="en-US" dirty="0" smtClean="0"/>
              <a:t> 차이를 계산함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Accumulate </a:t>
            </a:r>
            <a:r>
              <a:rPr lang="ko-KR" altLang="en-US" dirty="0" smtClean="0"/>
              <a:t>영상 누적</a:t>
            </a:r>
            <a:endParaRPr lang="en-US" altLang="ko-KR" dirty="0" smtClean="0"/>
          </a:p>
          <a:p>
            <a:r>
              <a:rPr lang="en-US" altLang="ko-KR" dirty="0" err="1" smtClean="0"/>
              <a:t>AccumulateSquare</a:t>
            </a:r>
            <a:r>
              <a:rPr lang="en-US" altLang="ko-KR" dirty="0" smtClean="0"/>
              <a:t> </a:t>
            </a:r>
            <a:r>
              <a:rPr lang="ko-KR" altLang="en-US" dirty="0" smtClean="0"/>
              <a:t>제곱 영상의 영상 누적</a:t>
            </a:r>
            <a:endParaRPr lang="en-US" altLang="ko-KR" dirty="0" smtClean="0"/>
          </a:p>
          <a:p>
            <a:r>
              <a:rPr lang="en-US" altLang="ko-KR" dirty="0" err="1" smtClean="0"/>
              <a:t>AccumulateWeighted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이동평균</a:t>
            </a:r>
            <a:r>
              <a:rPr lang="ko-KR" altLang="en-US" dirty="0" smtClean="0"/>
              <a:t> 영상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3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919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9.2 </a:t>
            </a:r>
            <a:r>
              <a:rPr lang="en-US" altLang="ko-KR" dirty="0" err="1"/>
              <a:t>Kalman</a:t>
            </a:r>
            <a:r>
              <a:rPr lang="en-US" altLang="ko-KR" dirty="0"/>
              <a:t> Filter </a:t>
            </a:r>
            <a:r>
              <a:rPr lang="ko-KR" altLang="en-US" dirty="0"/>
              <a:t>물체 </a:t>
            </a:r>
            <a:r>
              <a:rPr lang="ko-KR" altLang="en-US" dirty="0" smtClean="0"/>
              <a:t>추적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부정확한 </a:t>
            </a:r>
            <a:r>
              <a:rPr lang="ko-KR" altLang="en-US" dirty="0" err="1" smtClean="0"/>
              <a:t>측정값으로부터</a:t>
            </a:r>
            <a:r>
              <a:rPr lang="ko-KR" altLang="en-US" dirty="0" smtClean="0"/>
              <a:t> 오차를 최소로 하는 </a:t>
            </a:r>
            <a:r>
              <a:rPr lang="ko-KR" altLang="en-US" dirty="0" err="1" smtClean="0"/>
              <a:t>추정값을</a:t>
            </a:r>
            <a:r>
              <a:rPr lang="ko-KR" altLang="en-US" dirty="0" smtClean="0"/>
              <a:t> 반복적으로 추정하는 방법이다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1340767"/>
            <a:ext cx="6480720" cy="3994407"/>
          </a:xfrm>
          <a:prstGeom prst="rect">
            <a:avLst/>
          </a:prstGeom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4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306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</a:t>
            </a:r>
            <a:r>
              <a:rPr lang="en-US" altLang="ko-KR" dirty="0" err="1"/>
              <a:t>Kalman</a:t>
            </a:r>
            <a:r>
              <a:rPr lang="en-US" altLang="ko-KR" dirty="0"/>
              <a:t> Filter </a:t>
            </a:r>
            <a:r>
              <a:rPr lang="ko-KR" altLang="en-US" dirty="0"/>
              <a:t>물체 추적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575" y="980728"/>
            <a:ext cx="7740029" cy="4896544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5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765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9.2 </a:t>
            </a:r>
            <a:r>
              <a:rPr lang="en-US" altLang="ko-KR" dirty="0" err="1"/>
              <a:t>Kalman</a:t>
            </a:r>
            <a:r>
              <a:rPr lang="en-US" altLang="ko-KR" dirty="0"/>
              <a:t> Filter </a:t>
            </a:r>
            <a:r>
              <a:rPr lang="ko-KR" altLang="en-US" dirty="0"/>
              <a:t>물체 추적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3474" y="2116851"/>
            <a:ext cx="4877051" cy="3124361"/>
          </a:xfrm>
          <a:prstGeom prst="rect">
            <a:avLst/>
          </a:prstGeom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6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1510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kNN</a:t>
            </a:r>
            <a:r>
              <a:rPr lang="en-US" altLang="ko-KR" dirty="0" smtClean="0"/>
              <a:t> (k- Nearest </a:t>
            </a:r>
            <a:r>
              <a:rPr lang="en-US" altLang="ko-KR" dirty="0" err="1" smtClean="0"/>
              <a:t>Neighbour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Machine Learning</a:t>
            </a:r>
            <a:r>
              <a:rPr lang="ko-KR" altLang="en-US" dirty="0"/>
              <a:t>에는 </a:t>
            </a:r>
            <a:r>
              <a:rPr lang="ko-KR" altLang="en-US" dirty="0" err="1"/>
              <a:t>지도학습</a:t>
            </a:r>
            <a:r>
              <a:rPr lang="en-US" altLang="ko-KR" dirty="0"/>
              <a:t>(Supervised Learning)</a:t>
            </a:r>
            <a:r>
              <a:rPr lang="ko-KR" altLang="en-US" dirty="0"/>
              <a:t>과 </a:t>
            </a:r>
            <a:r>
              <a:rPr lang="ko-KR" altLang="en-US" dirty="0" err="1"/>
              <a:t>비지도학습</a:t>
            </a:r>
            <a:r>
              <a:rPr lang="en-US" altLang="ko-KR" dirty="0"/>
              <a:t>(Unsupervised Learning)</a:t>
            </a:r>
            <a:r>
              <a:rPr lang="ko-KR" altLang="en-US" dirty="0"/>
              <a:t>가 </a:t>
            </a:r>
            <a:endParaRPr lang="en-US" altLang="ko-KR" dirty="0" smtClean="0"/>
          </a:p>
          <a:p>
            <a:r>
              <a:rPr lang="en-US" altLang="ko-KR" dirty="0" err="1" smtClean="0"/>
              <a:t>kNN</a:t>
            </a:r>
            <a:r>
              <a:rPr lang="ko-KR" altLang="en-US" dirty="0"/>
              <a:t>은 </a:t>
            </a:r>
            <a:r>
              <a:rPr lang="ko-KR" altLang="en-US" dirty="0" err="1"/>
              <a:t>지도학습</a:t>
            </a:r>
            <a:r>
              <a:rPr lang="ko-KR" altLang="en-US" dirty="0"/>
              <a:t> 중 단순한 알고리즘을 </a:t>
            </a:r>
            <a:r>
              <a:rPr lang="ko-KR" altLang="en-US" dirty="0" smtClean="0"/>
              <a:t>이용한 방법</a:t>
            </a:r>
            <a:endParaRPr lang="en-US" altLang="ko-KR" dirty="0" smtClean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7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289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kNN</a:t>
            </a:r>
            <a:r>
              <a:rPr lang="en-US" altLang="ko-KR" dirty="0"/>
              <a:t> (k- Nearest </a:t>
            </a:r>
            <a:r>
              <a:rPr lang="en-US" altLang="ko-KR" dirty="0" err="1"/>
              <a:t>Neighbour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928670"/>
            <a:ext cx="4762872" cy="5500726"/>
          </a:xfrm>
        </p:spPr>
        <p:txBody>
          <a:bodyPr/>
          <a:lstStyle/>
          <a:p>
            <a:r>
              <a:rPr lang="en-US" altLang="ko-KR" dirty="0"/>
              <a:t>k-</a:t>
            </a:r>
            <a:r>
              <a:rPr lang="ko-KR" altLang="en-US" dirty="0" err="1"/>
              <a:t>최근접</a:t>
            </a:r>
            <a:r>
              <a:rPr lang="ko-KR" altLang="en-US" dirty="0"/>
              <a:t> 이웃 분류</a:t>
            </a:r>
            <a:r>
              <a:rPr lang="en-US" altLang="ko-KR" dirty="0"/>
              <a:t>(k‐Nearest Neighbors: k-NN)</a:t>
            </a:r>
          </a:p>
          <a:p>
            <a:pPr lvl="1"/>
            <a:r>
              <a:rPr lang="ko-KR" altLang="en-US" dirty="0"/>
              <a:t>학습된 클래스들에서 여러 개</a:t>
            </a:r>
            <a:r>
              <a:rPr lang="en-US" altLang="ko-KR" dirty="0"/>
              <a:t>(k)</a:t>
            </a:r>
            <a:r>
              <a:rPr lang="ko-KR" altLang="en-US" dirty="0"/>
              <a:t>의 가까운 이웃을 선출하고 이를 이용하여 미지의 샘플들을 분류하는 방법</a:t>
            </a:r>
            <a:endParaRPr lang="en-US" altLang="ko-KR" dirty="0"/>
          </a:p>
          <a:p>
            <a:pPr lvl="3"/>
            <a:endParaRPr lang="en-US" altLang="ko-KR" dirty="0"/>
          </a:p>
          <a:p>
            <a:pPr lvl="1"/>
            <a:r>
              <a:rPr lang="en-US" altLang="ko-KR" dirty="0"/>
              <a:t>k</a:t>
            </a:r>
            <a:r>
              <a:rPr lang="ko-KR" altLang="en-US" dirty="0"/>
              <a:t>가 </a:t>
            </a:r>
            <a:r>
              <a:rPr lang="en-US" altLang="ko-KR" dirty="0"/>
              <a:t>3</a:t>
            </a:r>
            <a:r>
              <a:rPr lang="ko-KR" altLang="en-US" dirty="0"/>
              <a:t>일 경우</a:t>
            </a:r>
            <a:endParaRPr lang="en-US" altLang="ko-KR" dirty="0"/>
          </a:p>
          <a:p>
            <a:pPr lvl="2"/>
            <a:r>
              <a:rPr lang="ko-KR" altLang="en-US" dirty="0"/>
              <a:t>미지 샘플 주변 가장 가까운 이웃 </a:t>
            </a:r>
            <a:r>
              <a:rPr lang="en-US" altLang="ko-KR" dirty="0"/>
              <a:t>3</a:t>
            </a:r>
            <a:r>
              <a:rPr lang="ko-KR" altLang="en-US" dirty="0"/>
              <a:t>개 선출 </a:t>
            </a:r>
            <a:endParaRPr lang="en-US" altLang="ko-KR" dirty="0"/>
          </a:p>
          <a:p>
            <a:pPr lvl="2"/>
            <a:r>
              <a:rPr lang="ko-KR" altLang="en-US" dirty="0"/>
              <a:t>이 중 많은 수의 샘플을 가진 클래스로 미지의 샘플 분류</a:t>
            </a:r>
            <a:endParaRPr lang="en-US" altLang="ko-KR" dirty="0"/>
          </a:p>
          <a:p>
            <a:pPr lvl="2"/>
            <a:r>
              <a:rPr lang="en-US" altLang="ko-KR" dirty="0"/>
              <a:t>A</a:t>
            </a:r>
            <a:r>
              <a:rPr lang="ko-KR" altLang="en-US" dirty="0"/>
              <a:t>클래스 샘플 </a:t>
            </a:r>
            <a:r>
              <a:rPr lang="en-US" altLang="ko-KR" dirty="0"/>
              <a:t>2</a:t>
            </a:r>
            <a:r>
              <a:rPr lang="ko-KR" altLang="en-US" dirty="0"/>
              <a:t>개</a:t>
            </a:r>
            <a:r>
              <a:rPr lang="en-US" altLang="ko-KR" dirty="0"/>
              <a:t>, B</a:t>
            </a:r>
            <a:r>
              <a:rPr lang="ko-KR" altLang="en-US" dirty="0"/>
              <a:t>클래스 샘플 </a:t>
            </a:r>
            <a:r>
              <a:rPr lang="en-US" altLang="ko-KR" dirty="0"/>
              <a:t>1</a:t>
            </a:r>
            <a:r>
              <a:rPr lang="ko-KR" altLang="en-US" dirty="0"/>
              <a:t>개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A</a:t>
            </a:r>
            <a:r>
              <a:rPr lang="ko-KR" altLang="en-US" dirty="0">
                <a:sym typeface="Wingdings" panose="05000000000000000000" pitchFamily="2" charset="2"/>
              </a:rPr>
              <a:t>클래스 분류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4"/>
            <a:endParaRPr lang="ko-KR" altLang="en-US" dirty="0"/>
          </a:p>
          <a:p>
            <a:pPr lvl="1"/>
            <a:r>
              <a:rPr lang="en-US" altLang="ko-KR" dirty="0"/>
              <a:t>k</a:t>
            </a:r>
            <a:r>
              <a:rPr lang="ko-KR" altLang="en-US" dirty="0"/>
              <a:t>가 </a:t>
            </a:r>
            <a:r>
              <a:rPr lang="en-US" altLang="ko-KR" dirty="0"/>
              <a:t>5</a:t>
            </a:r>
            <a:r>
              <a:rPr lang="ko-KR" altLang="en-US" dirty="0"/>
              <a:t>일 경우</a:t>
            </a:r>
            <a:endParaRPr lang="en-US" altLang="ko-KR" dirty="0"/>
          </a:p>
          <a:p>
            <a:pPr lvl="2"/>
            <a:r>
              <a:rPr lang="ko-KR" altLang="en-US" dirty="0"/>
              <a:t>실선 큰 원내에 있는 가장 가까운 이웃 </a:t>
            </a:r>
            <a:r>
              <a:rPr lang="en-US" altLang="ko-KR" dirty="0"/>
              <a:t>5</a:t>
            </a:r>
            <a:r>
              <a:rPr lang="ko-KR" altLang="en-US" dirty="0"/>
              <a:t>개 선출</a:t>
            </a:r>
            <a:endParaRPr lang="en-US" altLang="ko-KR" dirty="0"/>
          </a:p>
          <a:p>
            <a:pPr lvl="2"/>
            <a:r>
              <a:rPr lang="en-US" altLang="ko-KR" dirty="0"/>
              <a:t>2</a:t>
            </a:r>
            <a:r>
              <a:rPr lang="ko-KR" altLang="en-US" dirty="0"/>
              <a:t>개 </a:t>
            </a:r>
            <a:r>
              <a:rPr lang="en-US" altLang="ko-KR" dirty="0"/>
              <a:t>A </a:t>
            </a:r>
            <a:r>
              <a:rPr lang="ko-KR" altLang="en-US" dirty="0"/>
              <a:t>클래스</a:t>
            </a:r>
            <a:r>
              <a:rPr lang="en-US" altLang="ko-KR" dirty="0"/>
              <a:t>, 3</a:t>
            </a:r>
            <a:r>
              <a:rPr lang="ko-KR" altLang="en-US" dirty="0"/>
              <a:t>개 </a:t>
            </a:r>
            <a:r>
              <a:rPr lang="en-US" altLang="ko-KR" dirty="0"/>
              <a:t>B </a:t>
            </a:r>
            <a:r>
              <a:rPr lang="ko-KR" altLang="en-US" dirty="0"/>
              <a:t>클래스 </a:t>
            </a:r>
            <a:r>
              <a:rPr lang="en-US" altLang="ko-KR" dirty="0">
                <a:sym typeface="Wingdings" panose="05000000000000000000" pitchFamily="2" charset="2"/>
              </a:rPr>
              <a:t> B</a:t>
            </a:r>
            <a:r>
              <a:rPr lang="ko-KR" altLang="en-US" dirty="0">
                <a:sym typeface="Wingdings" panose="05000000000000000000" pitchFamily="2" charset="2"/>
              </a:rPr>
              <a:t>클래스로 분류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4" name="_x348643968" descr="EMB00003ff055a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2852936"/>
            <a:ext cx="3768418" cy="2826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8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0062046"/>
      </p:ext>
    </p:extLst>
  </p:cSld>
  <p:clrMapOvr>
    <a:masterClrMapping/>
  </p:clrMapOvr>
</p:sld>
</file>

<file path=ppt/theme/theme1.xml><?xml version="1.0" encoding="utf-8"?>
<a:theme xmlns:a="http://schemas.openxmlformats.org/drawingml/2006/main" name="바인드소프트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9050">
          <a:solidFill>
            <a:schemeClr val="tx1"/>
          </a:solidFill>
          <a:prstDash val="solid"/>
        </a:ln>
        <a:effectLst/>
      </a:spPr>
      <a:bodyPr wrap="square" rtlCol="0" anchor="ctr" anchorCtr="0">
        <a:noAutofit/>
      </a:bodyPr>
      <a:lstStyle>
        <a:defPPr marL="742950" indent="-742950" algn="ctr">
          <a:defRPr dirty="0" smtClean="0">
            <a:latin typeface="HY동녘B" pitchFamily="18" charset="-127"/>
            <a:ea typeface="HY동녘B" pitchFamily="18" charset="-127"/>
          </a:defRPr>
        </a:defPPr>
      </a:lstStyle>
    </a:spDef>
    <a:lnDef>
      <a:spPr>
        <a:ln w="19050">
          <a:solidFill>
            <a:schemeClr val="tx1"/>
          </a:solidFill>
          <a:headEnd type="none"/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gradFill>
          <a:gsLst>
            <a:gs pos="100000">
              <a:schemeClr val="bg1"/>
            </a:gs>
            <a:gs pos="0">
              <a:schemeClr val="bg1">
                <a:alpha val="0"/>
              </a:schemeClr>
            </a:gs>
          </a:gsLst>
          <a:lin ang="5400000" scaled="0"/>
        </a:gradFill>
      </a:spPr>
      <a:bodyPr vert="horz" lIns="91440" tIns="45720" rIns="91440" bIns="45720" rtlCol="0" anchor="ctr">
        <a:noAutofit/>
      </a:bodyPr>
      <a:lstStyle>
        <a:defPPr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바인드소프트" id="{9F29D461-A87A-4152-BAD6-53B5FC0ADF71}" vid="{A468E1C3-A913-41F0-BB80-6BEB0CCAC86F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바인드소프트</Template>
  <TotalTime>1510</TotalTime>
  <Words>209</Words>
  <Application>Microsoft Office PowerPoint</Application>
  <PresentationFormat>화면 슬라이드 쇼(4:3)</PresentationFormat>
  <Paragraphs>36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HY견고딕</vt:lpstr>
      <vt:lpstr>맑은 고딕</vt:lpstr>
      <vt:lpstr>Arial</vt:lpstr>
      <vt:lpstr>Wingdings</vt:lpstr>
      <vt:lpstr>바인드소프트</vt:lpstr>
      <vt:lpstr>CHAPTER 09  비디오처리 및 기계학습</vt:lpstr>
      <vt:lpstr>목차</vt:lpstr>
      <vt:lpstr>9.1 평균 배경 차 영상</vt:lpstr>
      <vt:lpstr>9.2 Kalman Filter 물체 추적</vt:lpstr>
      <vt:lpstr>9.2 Kalman Filter 물체 추적</vt:lpstr>
      <vt:lpstr>9.2 Kalman Filter 물체 추적</vt:lpstr>
      <vt:lpstr>kNN (k- Nearest Neighbour)</vt:lpstr>
      <vt:lpstr>kNN (k- Nearest Neighbour)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bae22</dc:creator>
  <cp:lastModifiedBy>Sugil</cp:lastModifiedBy>
  <cp:revision>271</cp:revision>
  <cp:lastPrinted>2023-12-19T08:50:45Z</cp:lastPrinted>
  <dcterms:created xsi:type="dcterms:W3CDTF">2017-02-21T08:17:22Z</dcterms:created>
  <dcterms:modified xsi:type="dcterms:W3CDTF">2023-12-19T08:51:01Z</dcterms:modified>
</cp:coreProperties>
</file>