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07" r:id="rId1"/>
  </p:sldMasterIdLst>
  <p:sldIdLst>
    <p:sldId id="256" r:id="rId2"/>
    <p:sldId id="455" r:id="rId3"/>
    <p:sldId id="452" r:id="rId4"/>
    <p:sldId id="454" r:id="rId5"/>
    <p:sldId id="453" r:id="rId6"/>
    <p:sldId id="451" r:id="rId7"/>
  </p:sldIdLst>
  <p:sldSz cx="9144000" cy="5143500" type="screen16x9"/>
  <p:notesSz cx="9144000" cy="51435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38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50052" cy="2285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95536" y="3219822"/>
            <a:ext cx="8352928" cy="63775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 u="none" baseline="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소단원 및 부제목</a:t>
            </a:r>
            <a:endParaRPr lang="en-US" altLang="ko-KR"/>
          </a:p>
        </p:txBody>
      </p:sp>
      <p:sp>
        <p:nvSpPr>
          <p:cNvPr id="36" name="제목 1"/>
          <p:cNvSpPr txBox="1">
            <a:spLocks/>
          </p:cNvSpPr>
          <p:nvPr/>
        </p:nvSpPr>
        <p:spPr>
          <a:xfrm>
            <a:off x="-6052" y="1"/>
            <a:ext cx="9150052" cy="2285132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endParaRPr lang="ko-KR" altLang="en-US" sz="2700" dirty="0"/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-11906" y="730389"/>
            <a:ext cx="9144000" cy="2268252"/>
          </a:xfrm>
          <a:gradFill>
            <a:gsLst>
              <a:gs pos="100000">
                <a:schemeClr val="bg1">
                  <a:alpha val="79000"/>
                </a:scheme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wrap="none"/>
          <a:lstStyle>
            <a:lvl1pPr marL="0" marR="0" indent="0" algn="ctr" defTabSz="6858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1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defRPr>
            </a:lvl1pPr>
          </a:lstStyle>
          <a:p>
            <a:r>
              <a:rPr lang="en-US" altLang="ko-KR"/>
              <a:t> </a:t>
            </a:r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99976" y="4221528"/>
            <a:ext cx="8280920" cy="54006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wrap="none" lIns="68580" tIns="34290" rIns="68580" bIns="34290" rtlCol="0" anchor="ctr">
            <a:noAutofit/>
          </a:bodyPr>
          <a:lstStyle/>
          <a:p>
            <a:pPr algn="ctr"/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㈜</a:t>
            </a:r>
            <a:r>
              <a:rPr lang="ko-KR" altLang="en-US" sz="1050" u="sng" dirty="0" err="1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바인드소프트</a:t>
            </a:r>
            <a:endParaRPr lang="ko-KR" altLang="en-US" sz="1050" u="sng" dirty="0">
              <a:solidFill>
                <a:schemeClr val="bg1">
                  <a:lumMod val="50000"/>
                </a:schemeClr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60" y="-175594"/>
            <a:ext cx="1224136" cy="90598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4137924"/>
            <a:ext cx="648072" cy="47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4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29"/>
          <p:cNvGrpSpPr/>
          <p:nvPr/>
        </p:nvGrpSpPr>
        <p:grpSpPr>
          <a:xfrm>
            <a:off x="357158" y="3268270"/>
            <a:ext cx="8072494" cy="53579"/>
            <a:chOff x="357158" y="4357694"/>
            <a:chExt cx="8072494" cy="71438"/>
          </a:xfrm>
        </p:grpSpPr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r="7467" b="3225"/>
            <a:stretch>
              <a:fillRect/>
            </a:stretch>
          </p:blipFill>
          <p:spPr bwMode="auto">
            <a:xfrm>
              <a:off x="357158" y="4357694"/>
              <a:ext cx="1301694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1658852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3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2617995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3577138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4536281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5495424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7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6454567" y="4357694"/>
              <a:ext cx="1975085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0" cap="all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20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3560"/>
            <a:ext cx="8229600" cy="436946"/>
          </a:xfrm>
        </p:spPr>
        <p:txBody>
          <a:bodyPr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4822048"/>
            <a:ext cx="2895600" cy="219059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4822048"/>
            <a:ext cx="2133600" cy="219059"/>
          </a:xfrm>
        </p:spPr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96502"/>
            <a:ext cx="8229600" cy="412554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cxnSp>
        <p:nvCxnSpPr>
          <p:cNvPr id="11" name="직선 연결선 10"/>
          <p:cNvCxnSpPr/>
          <p:nvPr/>
        </p:nvCxnSpPr>
        <p:spPr>
          <a:xfrm>
            <a:off x="467544" y="465516"/>
            <a:ext cx="8208912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0" scaled="1"/>
              <a:tileRect/>
            </a:gra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367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F:\images\design\2016.09.12 엣지아이랩 ppt 템플릿\line_yellow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41"/>
            <a:ext cx="9144000" cy="204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F:\images\design\2016.09.12 엣지아이랩 ppt 템플릿\line_blue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59297"/>
            <a:ext cx="9144000" cy="184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465516"/>
            <a:ext cx="8229600" cy="4195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09104"/>
            <a:ext cx="8229600" cy="3024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-110139"/>
            <a:ext cx="738064" cy="54624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4590160"/>
            <a:ext cx="738064" cy="54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98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</p:sldLayoutIdLst>
  <p:txStyles>
    <p:titleStyle>
      <a:lvl1pPr algn="l" defTabSz="685800" rtl="0" eaLnBrk="1" latinLnBrk="1" hangingPunct="1">
        <a:spcBef>
          <a:spcPct val="0"/>
        </a:spcBef>
        <a:buNone/>
        <a:defRPr sz="1500" b="0" kern="12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</p:titleStyle>
    <p:bodyStyle>
      <a:lvl1pPr marL="257175" indent="-257175" algn="l" defTabSz="685800" rtl="0" eaLnBrk="1" latinLnBrk="1" hangingPunct="1">
        <a:spcBef>
          <a:spcPct val="20000"/>
        </a:spcBef>
        <a:buClr>
          <a:schemeClr val="accent6">
            <a:lumMod val="75000"/>
          </a:schemeClr>
        </a:buClr>
        <a:buFont typeface="Wingdings" pitchFamily="2" charset="2"/>
        <a:buChar char="l"/>
        <a:defRPr sz="1200" kern="1200">
          <a:solidFill>
            <a:schemeClr val="tx1"/>
          </a:solidFill>
          <a:latin typeface="+mn-ea"/>
          <a:ea typeface="+mn-ea"/>
          <a:cs typeface="+mn-cs"/>
        </a:defRPr>
      </a:lvl1pPr>
      <a:lvl2pPr marL="557213" indent="-214313" algn="l" defTabSz="6858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200" kern="120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1" latinLnBrk="1" hangingPunct="1">
        <a:spcBef>
          <a:spcPct val="20000"/>
        </a:spcBef>
        <a:buClr>
          <a:srgbClr val="FF9933"/>
        </a:buClr>
        <a:buFont typeface="Wingdings" pitchFamily="2" charset="2"/>
        <a:buChar char="§"/>
        <a:defRPr sz="1200" kern="1200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200" kern="1200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1" latinLnBrk="1" hangingPunct="1">
        <a:spcBef>
          <a:spcPct val="20000"/>
        </a:spcBef>
        <a:buClr>
          <a:srgbClr val="FF9933"/>
        </a:buClr>
        <a:buFont typeface="Arial" pitchFamily="34" charset="0"/>
        <a:buChar char="•"/>
        <a:defRPr sz="1200" kern="1200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lassic.gazebosim.org/tutorials?tut=ros_gzplugins#Tutorial:UsingGazebopluginswithROS" TargetMode="External"/><Relationship Id="rId7" Type="http://schemas.openxmlformats.org/officeDocument/2006/relationships/hyperlink" Target="https://articulatedrobotics.xyz/category/getting-ready-to-build-a-ros-robot" TargetMode="External"/><Relationship Id="rId2" Type="http://schemas.openxmlformats.org/officeDocument/2006/relationships/hyperlink" Target="https://puzzling-cashew-c4c.notion.site/Maze-World-28b0a989c7c64fac95683b9c1c0015ee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booiljung.github.io/#robot/robot_simulation_with_urdf_sdf/chapter_02/0201/" TargetMode="External"/><Relationship Id="rId5" Type="http://schemas.openxmlformats.org/officeDocument/2006/relationships/hyperlink" Target="https://www.youtube.com/watch?v=8jrUutnmgRs&amp;t=770s" TargetMode="External"/><Relationship Id="rId4" Type="http://schemas.openxmlformats.org/officeDocument/2006/relationships/hyperlink" Target="https://github.com/terrificmn/maze_action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URDF robot</a:t>
            </a: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터트봇</a:t>
            </a:r>
            <a:r>
              <a:rPr lang="en-US" altLang="ko-KR" dirty="0"/>
              <a:t>3 </a:t>
            </a:r>
            <a:r>
              <a:rPr lang="ko-KR" altLang="en-US" dirty="0"/>
              <a:t>제어 실습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84FE26D-6126-FC61-AF64-39659D87F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URDF</a:t>
            </a:r>
            <a:r>
              <a:rPr lang="ko-KR" altLang="en-US" dirty="0"/>
              <a:t> 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BCA1A86-A881-1440-4CB1-7C44EF390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URDF(</a:t>
            </a:r>
            <a:r>
              <a:rPr lang="ko-KR" altLang="en-US" dirty="0"/>
              <a:t>통합 로봇 설명 형식</a:t>
            </a:r>
            <a:r>
              <a:rPr lang="en-US" altLang="ko-KR" dirty="0"/>
              <a:t>, Unified Robot Description Format)</a:t>
            </a:r>
            <a:r>
              <a:rPr lang="ko-KR" altLang="en-US" dirty="0"/>
              <a:t>는 로봇의 물리적 구조와 속성을 정의하는 </a:t>
            </a:r>
            <a:r>
              <a:rPr lang="en-US" altLang="ko-KR" dirty="0"/>
              <a:t>XML </a:t>
            </a:r>
            <a:r>
              <a:rPr lang="ko-KR" altLang="en-US" dirty="0"/>
              <a:t>기반의 파일 형식입니다</a:t>
            </a:r>
            <a:r>
              <a:rPr lang="en-US" altLang="ko-KR" dirty="0"/>
              <a:t>. </a:t>
            </a:r>
            <a:r>
              <a:rPr lang="ko-KR" altLang="en-US" dirty="0"/>
              <a:t>이를 통해 로봇의 링크</a:t>
            </a:r>
            <a:r>
              <a:rPr lang="en-US" altLang="ko-KR" dirty="0"/>
              <a:t>(</a:t>
            </a:r>
            <a:r>
              <a:rPr lang="ko-KR" altLang="en-US" dirty="0"/>
              <a:t>구성 요소</a:t>
            </a:r>
            <a:r>
              <a:rPr lang="en-US" altLang="ko-KR" dirty="0"/>
              <a:t>)</a:t>
            </a:r>
            <a:r>
              <a:rPr lang="ko-KR" altLang="en-US" dirty="0"/>
              <a:t>와 조인트</a:t>
            </a:r>
            <a:r>
              <a:rPr lang="en-US" altLang="ko-KR" dirty="0"/>
              <a:t>(</a:t>
            </a:r>
            <a:r>
              <a:rPr lang="ko-KR" altLang="en-US" dirty="0"/>
              <a:t>이동 가능 부위</a:t>
            </a:r>
            <a:r>
              <a:rPr lang="en-US" altLang="ko-KR" dirty="0"/>
              <a:t>)</a:t>
            </a:r>
            <a:r>
              <a:rPr lang="ko-KR" altLang="en-US" dirty="0"/>
              <a:t>를 상세히 기술하며</a:t>
            </a:r>
            <a:r>
              <a:rPr lang="en-US" altLang="ko-KR" dirty="0"/>
              <a:t>, </a:t>
            </a:r>
            <a:r>
              <a:rPr lang="ko-KR" altLang="en-US" dirty="0"/>
              <a:t>각 링크의 위치</a:t>
            </a:r>
            <a:r>
              <a:rPr lang="en-US" altLang="ko-KR" dirty="0"/>
              <a:t>, </a:t>
            </a:r>
            <a:r>
              <a:rPr lang="ko-KR" altLang="en-US" dirty="0"/>
              <a:t>관성</a:t>
            </a:r>
            <a:r>
              <a:rPr lang="en-US" altLang="ko-KR" dirty="0"/>
              <a:t>, </a:t>
            </a:r>
            <a:r>
              <a:rPr lang="ko-KR" altLang="en-US" dirty="0"/>
              <a:t>질량</a:t>
            </a:r>
            <a:r>
              <a:rPr lang="en-US" altLang="ko-KR" dirty="0"/>
              <a:t>, </a:t>
            </a:r>
            <a:r>
              <a:rPr lang="ko-KR" altLang="en-US" dirty="0"/>
              <a:t>시각적 및 충돌 요소 등을 포함합니다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URDF</a:t>
            </a:r>
            <a:r>
              <a:rPr lang="ko-KR" altLang="en-US" dirty="0"/>
              <a:t>는 주로 </a:t>
            </a:r>
            <a:r>
              <a:rPr lang="en-US" altLang="ko-KR" dirty="0"/>
              <a:t>ROS(Robot Operating System) </a:t>
            </a:r>
            <a:r>
              <a:rPr lang="ko-KR" altLang="en-US" dirty="0"/>
              <a:t>환경에서 사용되며</a:t>
            </a:r>
            <a:r>
              <a:rPr lang="en-US" altLang="ko-KR" dirty="0"/>
              <a:t>, Gazebo</a:t>
            </a:r>
            <a:r>
              <a:rPr lang="ko-KR" altLang="en-US" dirty="0"/>
              <a:t>와 같은 시뮬레이션 도구와 연동하여 가상 환경에서 로봇의 동작을 실험하고 </a:t>
            </a:r>
            <a:r>
              <a:rPr lang="ko-KR" altLang="en-US" dirty="0" err="1"/>
              <a:t>시각화하는</a:t>
            </a:r>
            <a:r>
              <a:rPr lang="ko-KR" altLang="en-US" dirty="0"/>
              <a:t> 데 활용됩니다</a:t>
            </a:r>
            <a:r>
              <a:rPr lang="en-US" altLang="ko-KR" dirty="0"/>
              <a:t>. </a:t>
            </a:r>
            <a:r>
              <a:rPr lang="ko-KR" altLang="en-US" dirty="0"/>
              <a:t>이를 통해 실제 로봇을 제작하기 전에 가상 환경에서 모델링하고 테스트할 수 있어 개발 효율성을 높일 수 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5653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URDF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581150"/>
            <a:ext cx="5382313" cy="277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92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FAD175-8B53-D1B6-97B2-D8BA2ED40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URDF-Launch </a:t>
            </a:r>
            <a:r>
              <a:rPr lang="ko-KR" altLang="en-US" dirty="0"/>
              <a:t>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4F150-E117-1B32-228E-4033489AF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sudo</a:t>
            </a:r>
            <a:r>
              <a:rPr lang="en-US" altLang="ko-KR" dirty="0"/>
              <a:t> apt install </a:t>
            </a:r>
            <a:r>
              <a:rPr lang="en-US" altLang="ko-KR" dirty="0" err="1"/>
              <a:t>ros</a:t>
            </a:r>
            <a:r>
              <a:rPr lang="en-US" altLang="ko-KR" dirty="0"/>
              <a:t>-humble-</a:t>
            </a:r>
            <a:r>
              <a:rPr lang="en-US" altLang="ko-KR" dirty="0" err="1"/>
              <a:t>urdf</a:t>
            </a:r>
            <a:r>
              <a:rPr lang="en-US" altLang="ko-KR" dirty="0"/>
              <a:t>-launch </a:t>
            </a:r>
          </a:p>
          <a:p>
            <a:r>
              <a:rPr lang="en-US" altLang="ko-KR" dirty="0"/>
              <a:t>Launch</a:t>
            </a:r>
            <a:r>
              <a:rPr lang="ko-KR" altLang="en-US" dirty="0"/>
              <a:t> 파일 생성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0028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레퍼런스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https://puzzling-cashew-c4c.notion.site/Maze-World-28b0a989c7c64fac95683b9c1c0015ee</a:t>
            </a:r>
            <a:endParaRPr lang="en-US" altLang="ko-KR" dirty="0"/>
          </a:p>
          <a:p>
            <a:r>
              <a:rPr lang="en-US" altLang="ko-KR" dirty="0">
                <a:hlinkClick r:id="rId3"/>
              </a:rPr>
              <a:t>https://classic.gazebosim.org/tutorials?tut=ros_gzplugins#Tutorial:UsingGazebopluginswithROS</a:t>
            </a:r>
            <a:endParaRPr lang="en-US" altLang="ko-KR" dirty="0"/>
          </a:p>
          <a:p>
            <a:r>
              <a:rPr lang="en-US" altLang="ko-KR" dirty="0">
                <a:hlinkClick r:id="rId4"/>
              </a:rPr>
              <a:t>https://github.com/terrificmn/maze_action</a:t>
            </a:r>
            <a:endParaRPr lang="en-US" altLang="ko-KR" dirty="0"/>
          </a:p>
          <a:p>
            <a:r>
              <a:rPr lang="en-US" altLang="ko-KR" dirty="0">
                <a:hlinkClick r:id="rId5"/>
              </a:rPr>
              <a:t>https://www.youtube.com/watch?v=8jrUutnmgRs&amp;t=770s</a:t>
            </a:r>
            <a:endParaRPr lang="en-US" altLang="ko-KR" dirty="0"/>
          </a:p>
          <a:p>
            <a:r>
              <a:rPr lang="en-US" altLang="ko-KR" dirty="0">
                <a:hlinkClick r:id="rId6"/>
              </a:rPr>
              <a:t>https://booiljung.github.io/#robot/robot_simulation_with_urdf_sdf/chapter_02/0201/</a:t>
            </a:r>
            <a:endParaRPr lang="en-US" altLang="ko-KR" dirty="0"/>
          </a:p>
          <a:p>
            <a:r>
              <a:rPr lang="en-US" altLang="ko-KR" dirty="0">
                <a:hlinkClick r:id="rId7"/>
              </a:rPr>
              <a:t>https://articulatedrobotics.xyz/category/getting-ready-to-build-a-ros-robot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8451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n-ea"/>
                <a:ea typeface="+mn-ea"/>
              </a:rPr>
              <a:t>[</a:t>
            </a:r>
            <a:r>
              <a:rPr lang="ko-KR" altLang="en-US" b="1" dirty="0">
                <a:latin typeface="+mn-ea"/>
                <a:ea typeface="+mn-ea"/>
              </a:rPr>
              <a:t>실습</a:t>
            </a:r>
            <a:r>
              <a:rPr lang="en-US" altLang="ko-KR" b="1" dirty="0">
                <a:latin typeface="+mn-ea"/>
                <a:ea typeface="+mn-ea"/>
              </a:rPr>
              <a:t>]</a:t>
            </a:r>
            <a:endParaRPr lang="ko-KR" altLang="en-US" b="1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 err="1"/>
              <a:t>가제보로</a:t>
            </a:r>
            <a:r>
              <a:rPr lang="ko-KR" altLang="en-US" dirty="0"/>
              <a:t> </a:t>
            </a:r>
            <a:r>
              <a:rPr lang="ko-KR" altLang="en-US" dirty="0" err="1"/>
              <a:t>터틀봇</a:t>
            </a:r>
            <a:r>
              <a:rPr lang="en-US" altLang="ko-KR" dirty="0"/>
              <a:t>3 </a:t>
            </a:r>
            <a:r>
              <a:rPr lang="ko-KR" altLang="en-US" dirty="0"/>
              <a:t>월드에 </a:t>
            </a:r>
            <a:r>
              <a:rPr lang="ko-KR" altLang="en-US" dirty="0" err="1"/>
              <a:t>터틀봇을</a:t>
            </a:r>
            <a:r>
              <a:rPr lang="ko-KR" altLang="en-US" dirty="0"/>
              <a:t> 불러오고 </a:t>
            </a:r>
            <a:r>
              <a:rPr lang="en-US" altLang="ko-KR" dirty="0"/>
              <a:t>SLAM</a:t>
            </a:r>
            <a:r>
              <a:rPr lang="ko-KR" altLang="en-US" dirty="0"/>
              <a:t>을 실행해서 지도를 만든다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 </a:t>
            </a:r>
            <a:endParaRPr lang="ko-KR" altLang="ko-KR" dirty="0"/>
          </a:p>
          <a:p>
            <a:r>
              <a:rPr lang="en-US" altLang="ko-KR" dirty="0"/>
              <a:t>2.  </a:t>
            </a:r>
            <a:r>
              <a:rPr lang="ko-KR" altLang="en-US" dirty="0" err="1"/>
              <a:t>가제보로</a:t>
            </a:r>
            <a:r>
              <a:rPr lang="ko-KR" altLang="en-US" dirty="0"/>
              <a:t> </a:t>
            </a:r>
            <a:r>
              <a:rPr lang="ko-KR" altLang="en-US" dirty="0" err="1"/>
              <a:t>터틀봇</a:t>
            </a:r>
            <a:r>
              <a:rPr lang="en-US" altLang="ko-KR" dirty="0"/>
              <a:t>3</a:t>
            </a:r>
            <a:r>
              <a:rPr lang="ko-KR" altLang="en-US" dirty="0"/>
              <a:t>월드를 불러오고 </a:t>
            </a:r>
            <a:r>
              <a:rPr lang="en-US" altLang="ko-KR" dirty="0"/>
              <a:t>1</a:t>
            </a:r>
            <a:r>
              <a:rPr lang="ko-KR" altLang="en-US" dirty="0"/>
              <a:t>에서 만든 지도로 네비게이션을 해 본다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 </a:t>
            </a:r>
          </a:p>
          <a:p>
            <a:endParaRPr lang="ko-KR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네비게이션 노드를 작성해서 </a:t>
            </a:r>
            <a:r>
              <a:rPr lang="ko-KR" altLang="en-US" dirty="0" err="1"/>
              <a:t>가제보의</a:t>
            </a:r>
            <a:r>
              <a:rPr lang="ko-KR" altLang="en-US" dirty="0"/>
              <a:t> </a:t>
            </a:r>
            <a:r>
              <a:rPr lang="ko-KR" altLang="en-US" dirty="0" err="1"/>
              <a:t>터틀봇을</a:t>
            </a:r>
            <a:r>
              <a:rPr lang="ko-KR" altLang="en-US" dirty="0"/>
              <a:t> </a:t>
            </a:r>
            <a:r>
              <a:rPr lang="ko-KR" altLang="en-US" dirty="0" err="1"/>
              <a:t>코드대로</a:t>
            </a:r>
            <a:r>
              <a:rPr lang="ko-KR" altLang="en-US" dirty="0"/>
              <a:t> 움직이게 해 본다</a:t>
            </a:r>
            <a:r>
              <a:rPr lang="en-US" altLang="ko-KR" dirty="0"/>
              <a:t>. </a:t>
            </a:r>
            <a:endParaRPr lang="ko-KR" altLang="ko-KR" dirty="0"/>
          </a:p>
          <a:p>
            <a:r>
              <a:rPr lang="en-US" altLang="ko-KR" dirty="0"/>
              <a:t> (</a:t>
            </a:r>
            <a:r>
              <a:rPr lang="en-US" altLang="ko-KR" dirty="0" err="1"/>
              <a:t>Followwaypoints</a:t>
            </a:r>
            <a:r>
              <a:rPr lang="en-US" altLang="ko-KR" dirty="0"/>
              <a:t> action</a:t>
            </a:r>
            <a:r>
              <a:rPr lang="ko-KR" altLang="en-US" dirty="0"/>
              <a:t>을 이용한다</a:t>
            </a:r>
            <a:r>
              <a:rPr lang="en-US" altLang="ko-KR" dirty="0"/>
              <a:t>. )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592448431"/>
      </p:ext>
    </p:extLst>
  </p:cSld>
  <p:clrMapOvr>
    <a:masterClrMapping/>
  </p:clrMapOvr>
</p:sld>
</file>

<file path=ppt/theme/theme1.xml><?xml version="1.0" encoding="utf-8"?>
<a:theme xmlns:a="http://schemas.openxmlformats.org/drawingml/2006/main" name="바인드소프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/>
          </a:solidFill>
          <a:prstDash val="solid"/>
        </a:ln>
        <a:effectLst/>
      </a:spPr>
      <a:bodyPr wrap="square" rtlCol="0" anchor="ctr" anchorCtr="0">
        <a:noAutofit/>
      </a:bodyPr>
      <a:lstStyle>
        <a:defPPr marL="742950" indent="-742950" algn="ctr">
          <a:defRPr dirty="0" smtClean="0">
            <a:latin typeface="HY동녘B" pitchFamily="18" charset="-127"/>
            <a:ea typeface="HY동녘B" pitchFamily="18" charset="-127"/>
          </a:defRPr>
        </a:defPPr>
      </a:lstStyle>
    </a:spDef>
    <a:lnDef>
      <a:spPr>
        <a:ln w="19050">
          <a:solidFill>
            <a:schemeClr val="tx1"/>
          </a:solidFill>
          <a:headEnd type="non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gradFill>
          <a:gsLst>
            <a:gs pos="100000">
              <a:schemeClr val="bg1"/>
            </a:gs>
            <a:gs pos="0">
              <a:schemeClr val="bg1">
                <a:alpha val="0"/>
              </a:schemeClr>
            </a:gs>
          </a:gsLst>
          <a:lin ang="5400000" scaled="0"/>
        </a:gradFill>
      </a:spPr>
      <a:bodyPr vert="horz" lIns="91440" tIns="45720" rIns="91440" bIns="45720" rtlCol="0" anchor="ctr">
        <a:noAutofit/>
      </a:bodyPr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바인드소프트" id="{9F29D461-A87A-4152-BAD6-53B5FC0ADF71}" vid="{A468E1C3-A913-41F0-BB80-6BEB0CCAC86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1287</TotalTime>
  <Words>264</Words>
  <Application>Microsoft Office PowerPoint</Application>
  <PresentationFormat>화면 슬라이드 쇼(16:9)</PresentationFormat>
  <Paragraphs>25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HY견고딕</vt:lpstr>
      <vt:lpstr>맑은 고딕</vt:lpstr>
      <vt:lpstr>Arial</vt:lpstr>
      <vt:lpstr>Wingdings</vt:lpstr>
      <vt:lpstr>바인드소프트</vt:lpstr>
      <vt:lpstr>터트봇3 제어 실습</vt:lpstr>
      <vt:lpstr>URDF 란</vt:lpstr>
      <vt:lpstr>URDF</vt:lpstr>
      <vt:lpstr>URDF-Launch 설치</vt:lpstr>
      <vt:lpstr>레퍼런스</vt:lpstr>
      <vt:lpstr>[실습]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Sugil Choi</cp:lastModifiedBy>
  <cp:revision>39</cp:revision>
  <dcterms:created xsi:type="dcterms:W3CDTF">2023-01-17T00:02:46Z</dcterms:created>
  <dcterms:modified xsi:type="dcterms:W3CDTF">2025-01-16T02:45:32Z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