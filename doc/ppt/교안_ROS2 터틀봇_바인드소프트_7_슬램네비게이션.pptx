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07" r:id="rId1"/>
  </p:sldMasterIdLst>
  <p:sldIdLst>
    <p:sldId id="256" r:id="rId2"/>
    <p:sldId id="452" r:id="rId3"/>
    <p:sldId id="453" r:id="rId4"/>
    <p:sldId id="443" r:id="rId5"/>
    <p:sldId id="445" r:id="rId6"/>
    <p:sldId id="446" r:id="rId7"/>
    <p:sldId id="454" r:id="rId8"/>
    <p:sldId id="455" r:id="rId9"/>
    <p:sldId id="456" r:id="rId10"/>
    <p:sldId id="457" r:id="rId11"/>
    <p:sldId id="458" r:id="rId12"/>
    <p:sldId id="447" r:id="rId13"/>
    <p:sldId id="448" r:id="rId14"/>
    <p:sldId id="449" r:id="rId15"/>
    <p:sldId id="459" r:id="rId16"/>
    <p:sldId id="460" r:id="rId17"/>
    <p:sldId id="461" r:id="rId18"/>
    <p:sldId id="462" r:id="rId19"/>
    <p:sldId id="450" r:id="rId20"/>
    <p:sldId id="451" r:id="rId21"/>
  </p:sldIdLst>
  <p:sldSz cx="9144000" cy="5143500" type="screen16x9"/>
  <p:notesSz cx="9144000" cy="51435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50" d="100"/>
          <a:sy n="150" d="100"/>
        </p:scale>
        <p:origin x="96" y="1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50052" cy="2285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395536" y="3219822"/>
            <a:ext cx="8352928" cy="63775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 u="none" baseline="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소단원 및 부제목</a:t>
            </a:r>
            <a:endParaRPr lang="en-US" altLang="ko-KR"/>
          </a:p>
        </p:txBody>
      </p:sp>
      <p:sp>
        <p:nvSpPr>
          <p:cNvPr id="36" name="제목 1"/>
          <p:cNvSpPr txBox="1">
            <a:spLocks/>
          </p:cNvSpPr>
          <p:nvPr/>
        </p:nvSpPr>
        <p:spPr>
          <a:xfrm>
            <a:off x="-6052" y="1"/>
            <a:ext cx="9150052" cy="2285132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3600" b="1" kern="1200" cap="all" spc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HY견고딕" pitchFamily="18" charset="-127"/>
                <a:ea typeface="HY견고딕" pitchFamily="18" charset="-127"/>
                <a:cs typeface="+mj-cs"/>
              </a:defRPr>
            </a:lvl1pPr>
          </a:lstStyle>
          <a:p>
            <a:endParaRPr lang="ko-KR" altLang="en-US" sz="2700" dirty="0"/>
          </a:p>
        </p:txBody>
      </p:sp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-11906" y="730389"/>
            <a:ext cx="9144000" cy="2268252"/>
          </a:xfrm>
          <a:gradFill>
            <a:gsLst>
              <a:gs pos="100000">
                <a:schemeClr val="bg1">
                  <a:alpha val="79000"/>
                </a:schemeClr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wrap="none"/>
          <a:lstStyle>
            <a:lvl1pPr marL="0" marR="0" indent="0" algn="ctr" defTabSz="6858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1" cap="all" spc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defRPr>
            </a:lvl1pPr>
          </a:lstStyle>
          <a:p>
            <a:r>
              <a:rPr lang="en-US" altLang="ko-KR"/>
              <a:t> </a:t>
            </a:r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399976" y="4221528"/>
            <a:ext cx="8280920" cy="540060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vert="horz" wrap="none" lIns="68580" tIns="34290" rIns="68580" bIns="34290" rtlCol="0" anchor="ctr">
            <a:noAutofit/>
          </a:bodyPr>
          <a:lstStyle/>
          <a:p>
            <a:pPr algn="ctr"/>
            <a:r>
              <a:rPr lang="ko-KR" altLang="en-US" sz="1050" u="sng" dirty="0">
                <a:solidFill>
                  <a:schemeClr val="bg1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㈜</a:t>
            </a:r>
            <a:r>
              <a:rPr lang="ko-KR" altLang="en-US" sz="1050" u="sng" dirty="0" err="1">
                <a:solidFill>
                  <a:schemeClr val="bg1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바인드소프트</a:t>
            </a:r>
            <a:endParaRPr lang="ko-KR" altLang="en-US" sz="1050" u="sng" dirty="0">
              <a:solidFill>
                <a:schemeClr val="bg1">
                  <a:lumMod val="50000"/>
                </a:schemeClr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360" y="-175594"/>
            <a:ext cx="1224136" cy="905982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4137924"/>
            <a:ext cx="648072" cy="47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449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29"/>
          <p:cNvGrpSpPr/>
          <p:nvPr/>
        </p:nvGrpSpPr>
        <p:grpSpPr>
          <a:xfrm>
            <a:off x="357158" y="3268270"/>
            <a:ext cx="8072494" cy="53579"/>
            <a:chOff x="357158" y="4357694"/>
            <a:chExt cx="8072494" cy="71438"/>
          </a:xfrm>
        </p:grpSpPr>
        <p:pic>
          <p:nvPicPr>
            <p:cNvPr id="10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r="7467" b="3225"/>
            <a:stretch>
              <a:fillRect/>
            </a:stretch>
          </p:blipFill>
          <p:spPr bwMode="auto">
            <a:xfrm>
              <a:off x="357158" y="4357694"/>
              <a:ext cx="1301694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2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1658852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3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2617995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4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3577138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5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4536281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6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5495424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7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6454567" y="4357694"/>
              <a:ext cx="1975085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0" cap="all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4208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53560"/>
            <a:ext cx="8229600" cy="436946"/>
          </a:xfrm>
        </p:spPr>
        <p:txBody>
          <a:bodyPr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4822048"/>
            <a:ext cx="2895600" cy="219059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4822048"/>
            <a:ext cx="2133600" cy="219059"/>
          </a:xfrm>
        </p:spPr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696502"/>
            <a:ext cx="8229600" cy="412554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cxnSp>
        <p:nvCxnSpPr>
          <p:cNvPr id="11" name="직선 연결선 10"/>
          <p:cNvCxnSpPr/>
          <p:nvPr/>
        </p:nvCxnSpPr>
        <p:spPr>
          <a:xfrm>
            <a:off x="467544" y="465516"/>
            <a:ext cx="8208912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FFFFFF"/>
                </a:gs>
                <a:gs pos="7001">
                  <a:srgbClr val="E6E6E6"/>
                </a:gs>
                <a:gs pos="32001">
                  <a:srgbClr val="7D8496"/>
                </a:gs>
                <a:gs pos="47000">
                  <a:srgbClr val="E6E6E6"/>
                </a:gs>
                <a:gs pos="85001">
                  <a:srgbClr val="7D8496"/>
                </a:gs>
                <a:gs pos="100000">
                  <a:srgbClr val="E6E6E6"/>
                </a:gs>
              </a:gsLst>
              <a:lin ang="0" scaled="1"/>
              <a:tileRect/>
            </a:gra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8367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0" name="Picture 16" descr="F:\images\design\2016.09.12 엣지아이랩 ppt 템플릿\line_yellow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41"/>
            <a:ext cx="9144000" cy="204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 descr="F:\images\design\2016.09.12 엣지아이랩 ppt 템플릿\line_blue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59297"/>
            <a:ext cx="9144000" cy="184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465516"/>
            <a:ext cx="8229600" cy="41957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09104"/>
            <a:ext cx="8229600" cy="3024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-110139"/>
            <a:ext cx="738064" cy="54624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4590160"/>
            <a:ext cx="738064" cy="54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984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</p:sldLayoutIdLst>
  <p:txStyles>
    <p:titleStyle>
      <a:lvl1pPr algn="l" defTabSz="685800" rtl="0" eaLnBrk="1" latinLnBrk="1" hangingPunct="1">
        <a:spcBef>
          <a:spcPct val="0"/>
        </a:spcBef>
        <a:buNone/>
        <a:defRPr sz="1500" b="0" kern="1200">
          <a:solidFill>
            <a:schemeClr val="tx1"/>
          </a:solidFill>
          <a:latin typeface="HY견고딕" pitchFamily="18" charset="-127"/>
          <a:ea typeface="HY견고딕" pitchFamily="18" charset="-127"/>
          <a:cs typeface="+mj-cs"/>
        </a:defRPr>
      </a:lvl1pPr>
    </p:titleStyle>
    <p:bodyStyle>
      <a:lvl1pPr marL="257175" indent="-257175" algn="l" defTabSz="685800" rtl="0" eaLnBrk="1" latinLnBrk="1" hangingPunct="1">
        <a:spcBef>
          <a:spcPct val="20000"/>
        </a:spcBef>
        <a:buClr>
          <a:schemeClr val="accent6">
            <a:lumMod val="75000"/>
          </a:schemeClr>
        </a:buClr>
        <a:buFont typeface="Wingdings" pitchFamily="2" charset="2"/>
        <a:buChar char="l"/>
        <a:defRPr sz="1200" kern="1200">
          <a:solidFill>
            <a:schemeClr val="tx1"/>
          </a:solidFill>
          <a:latin typeface="+mn-ea"/>
          <a:ea typeface="+mn-ea"/>
          <a:cs typeface="+mn-cs"/>
        </a:defRPr>
      </a:lvl1pPr>
      <a:lvl2pPr marL="557213" indent="-214313" algn="l" defTabSz="685800" rtl="0" eaLnBrk="1" latinLnBrk="1" hangingPunct="1">
        <a:spcBef>
          <a:spcPct val="20000"/>
        </a:spcBef>
        <a:buClr>
          <a:srgbClr val="3399FF"/>
        </a:buClr>
        <a:buFont typeface="Arial" pitchFamily="34" charset="0"/>
        <a:buChar char="–"/>
        <a:defRPr sz="1200" kern="1200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1" latinLnBrk="1" hangingPunct="1">
        <a:spcBef>
          <a:spcPct val="20000"/>
        </a:spcBef>
        <a:buClr>
          <a:srgbClr val="FF9933"/>
        </a:buClr>
        <a:buFont typeface="Wingdings" pitchFamily="2" charset="2"/>
        <a:buChar char="§"/>
        <a:defRPr sz="1200" kern="1200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1" latinLnBrk="1" hangingPunct="1">
        <a:spcBef>
          <a:spcPct val="20000"/>
        </a:spcBef>
        <a:buClr>
          <a:srgbClr val="3399FF"/>
        </a:buClr>
        <a:buFont typeface="Arial" pitchFamily="34" charset="0"/>
        <a:buChar char="–"/>
        <a:defRPr sz="1200" kern="1200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1" latinLnBrk="1" hangingPunct="1">
        <a:spcBef>
          <a:spcPct val="20000"/>
        </a:spcBef>
        <a:buClr>
          <a:srgbClr val="FF9933"/>
        </a:buClr>
        <a:buFont typeface="Arial" pitchFamily="34" charset="0"/>
        <a:buChar char="•"/>
        <a:defRPr sz="1200" kern="1200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oogle-cartographer-ros.readthedocs.io/en/latest/algo_walkthrough.html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슬램 네비게이션</a:t>
            </a:r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터트봇</a:t>
            </a:r>
            <a:r>
              <a:rPr lang="en-US" altLang="ko-KR" dirty="0"/>
              <a:t>3 </a:t>
            </a:r>
            <a:r>
              <a:rPr lang="ko-KR" altLang="en-US" dirty="0"/>
              <a:t>제어 실습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슬램</a:t>
            </a:r>
            <a:r>
              <a:rPr lang="en-US" altLang="ko-KR" dirty="0"/>
              <a:t>( SLAM )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SLAM(</a:t>
            </a:r>
            <a:r>
              <a:rPr lang="ko-KR" altLang="en-US" dirty="0"/>
              <a:t> </a:t>
            </a:r>
            <a:r>
              <a:rPr lang="en-US" altLang="ko-KR" dirty="0"/>
              <a:t>Simultaneous Localization and Mapping) </a:t>
            </a:r>
            <a:br>
              <a:rPr lang="en-US" altLang="ko-KR" dirty="0"/>
            </a:br>
            <a:r>
              <a:rPr lang="ko-KR" altLang="en-US" dirty="0"/>
              <a:t>로봇공학의 관점에서 보았을 때 임의의 공간에서 이동하면서 주변을 탐색하고</a:t>
            </a:r>
            <a:r>
              <a:rPr lang="en-US" altLang="ko-KR" dirty="0"/>
              <a:t>, </a:t>
            </a:r>
            <a:r>
              <a:rPr lang="ko-KR" altLang="en-US" dirty="0"/>
              <a:t>그 공간 내에서의 지도를 생성하고</a:t>
            </a:r>
            <a:r>
              <a:rPr lang="en-US" altLang="ko-KR" dirty="0"/>
              <a:t>, </a:t>
            </a:r>
            <a:r>
              <a:rPr lang="ko-KR" altLang="en-US" dirty="0"/>
              <a:t>로봇의 위치를 추정하는 기법</a:t>
            </a:r>
            <a:br>
              <a:rPr lang="en-US" altLang="ko-KR" dirty="0"/>
            </a:br>
            <a:endParaRPr lang="en-US" altLang="ko-KR" dirty="0"/>
          </a:p>
          <a:p>
            <a:pPr lvl="1"/>
            <a:r>
              <a:rPr lang="en-US" altLang="ko-KR" dirty="0"/>
              <a:t>SLAM</a:t>
            </a:r>
            <a:r>
              <a:rPr lang="ko-KR" altLang="en-US" dirty="0"/>
              <a:t>을 하기 위해서는 다양한 알고리즘이 사용</a:t>
            </a:r>
            <a:br>
              <a:rPr lang="en-US" altLang="ko-KR" dirty="0"/>
            </a:br>
            <a:r>
              <a:rPr lang="en-US" altLang="ko-KR" dirty="0"/>
              <a:t>ex)</a:t>
            </a:r>
            <a:r>
              <a:rPr lang="ko-KR" altLang="en-US" dirty="0"/>
              <a:t> </a:t>
            </a:r>
            <a:r>
              <a:rPr lang="ko-KR" altLang="en-US" dirty="0" err="1"/>
              <a:t>칼만필</a:t>
            </a:r>
            <a:r>
              <a:rPr lang="ko-KR" altLang="en-US" dirty="0"/>
              <a:t> 터</a:t>
            </a:r>
            <a:r>
              <a:rPr lang="en-US" altLang="ko-KR" dirty="0"/>
              <a:t>, </a:t>
            </a:r>
            <a:r>
              <a:rPr lang="ko-KR" altLang="en-US" dirty="0"/>
              <a:t>입자필터</a:t>
            </a:r>
            <a:r>
              <a:rPr lang="en-US" altLang="ko-KR" dirty="0"/>
              <a:t>, </a:t>
            </a:r>
            <a:r>
              <a:rPr lang="ko-KR" altLang="en-US" dirty="0" err="1"/>
              <a:t>공분산교차점</a:t>
            </a:r>
            <a:r>
              <a:rPr lang="en-US" altLang="ko-KR" dirty="0"/>
              <a:t>, Graph SLAM</a:t>
            </a:r>
            <a:r>
              <a:rPr lang="ko-KR" altLang="en-US" dirty="0"/>
              <a:t>등이</a:t>
            </a:r>
            <a:br>
              <a:rPr lang="en-US" altLang="ko-KR" dirty="0"/>
            </a:br>
            <a:endParaRPr lang="en-US" altLang="ko-KR" dirty="0"/>
          </a:p>
          <a:p>
            <a:pPr lvl="1"/>
            <a:r>
              <a:rPr lang="en-US" altLang="ko-KR" dirty="0"/>
              <a:t>SLAM</a:t>
            </a:r>
            <a:r>
              <a:rPr lang="ko-KR" altLang="en-US" dirty="0"/>
              <a:t>을 하기 위해선 다양한 센서들을 사용하</a:t>
            </a:r>
            <a:br>
              <a:rPr lang="en-US" altLang="ko-KR" dirty="0"/>
            </a:br>
            <a:r>
              <a:rPr lang="ko-KR" altLang="en-US" dirty="0"/>
              <a:t>라이다 같은 센서모델은 </a:t>
            </a:r>
            <a:r>
              <a:rPr lang="ko-KR" altLang="en-US" dirty="0" err="1"/>
              <a:t>랜드마크기반</a:t>
            </a:r>
            <a:r>
              <a:rPr lang="ko-KR" altLang="en-US" dirty="0"/>
              <a:t> 원시데이터</a:t>
            </a:r>
            <a:br>
              <a:rPr lang="en-US" altLang="ko-KR" dirty="0"/>
            </a:br>
            <a:r>
              <a:rPr lang="ko-KR" altLang="en-US" dirty="0"/>
              <a:t> 접근방식을 통해 위치를 추정</a:t>
            </a:r>
            <a:br>
              <a:rPr lang="en-US" altLang="ko-KR" dirty="0"/>
            </a:br>
            <a:r>
              <a:rPr lang="ko-KR" altLang="en-US" dirty="0" err="1"/>
              <a:t>싱글카메라</a:t>
            </a:r>
            <a:r>
              <a:rPr lang="en-US" altLang="ko-KR" dirty="0"/>
              <a:t>, Depth </a:t>
            </a:r>
            <a:r>
              <a:rPr lang="ko-KR" altLang="en-US" dirty="0"/>
              <a:t>카메라의 경우를 사용하는 것이 최근 추세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33D34BC-682F-CAC3-07F9-4D605E729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1352550"/>
            <a:ext cx="3370508" cy="313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92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Cartograhper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altLang="ko-KR" dirty="0"/>
              <a:t>Cartographer(</a:t>
            </a:r>
            <a:r>
              <a:rPr lang="ko-KR" altLang="en-US" dirty="0" err="1"/>
              <a:t>카르토그래퍼</a:t>
            </a:r>
            <a:r>
              <a:rPr lang="en-US" altLang="ko-KR" dirty="0"/>
              <a:t>)</a:t>
            </a:r>
            <a:r>
              <a:rPr lang="ko-KR" altLang="en-US" dirty="0"/>
              <a:t>는 구글에서 개발한 </a:t>
            </a:r>
            <a:r>
              <a:rPr lang="en-US" altLang="ko-KR" dirty="0"/>
              <a:t>SLAM </a:t>
            </a:r>
            <a:r>
              <a:rPr lang="ko-KR" altLang="en-US" dirty="0"/>
              <a:t>라이브러리</a:t>
            </a:r>
            <a:endParaRPr lang="en-US" altLang="ko-KR" dirty="0"/>
          </a:p>
          <a:p>
            <a:pPr fontAlgn="base"/>
            <a:r>
              <a:rPr lang="ko-KR" altLang="en-US" dirty="0" err="1"/>
              <a:t>카르토그래퍼는</a:t>
            </a:r>
            <a:r>
              <a:rPr lang="ko-KR" altLang="en-US" dirty="0"/>
              <a:t> 다양한 플랫폼과 센서</a:t>
            </a:r>
            <a:r>
              <a:rPr lang="en-US" altLang="ko-KR" dirty="0"/>
              <a:t>(</a:t>
            </a:r>
            <a:r>
              <a:rPr lang="ko-KR" altLang="en-US" dirty="0" err="1"/>
              <a:t>라이다이든</a:t>
            </a:r>
            <a:r>
              <a:rPr lang="ko-KR" altLang="en-US" dirty="0"/>
              <a:t> 카메라 </a:t>
            </a:r>
            <a:r>
              <a:rPr lang="ko-KR" altLang="en-US" dirty="0" err="1"/>
              <a:t>비젼이든</a:t>
            </a:r>
            <a:r>
              <a:rPr lang="en-US" altLang="ko-KR" dirty="0"/>
              <a:t>)</a:t>
            </a:r>
            <a:r>
              <a:rPr lang="ko-KR" altLang="en-US" dirty="0"/>
              <a:t>구성에서 </a:t>
            </a:r>
            <a:r>
              <a:rPr lang="en-US" altLang="ko-KR" dirty="0"/>
              <a:t>2D </a:t>
            </a:r>
            <a:r>
              <a:rPr lang="ko-KR" altLang="en-US" dirty="0"/>
              <a:t>및 </a:t>
            </a:r>
            <a:r>
              <a:rPr lang="en-US" altLang="ko-KR" dirty="0"/>
              <a:t>3D </a:t>
            </a:r>
            <a:r>
              <a:rPr lang="ko-KR" altLang="en-US" dirty="0"/>
              <a:t>환경의 </a:t>
            </a:r>
            <a:r>
              <a:rPr lang="en-US" altLang="ko-KR" dirty="0"/>
              <a:t>SLAM</a:t>
            </a:r>
            <a:r>
              <a:rPr lang="ko-KR" altLang="en-US" dirty="0"/>
              <a:t>을 “</a:t>
            </a:r>
            <a:r>
              <a:rPr lang="ko-KR" altLang="en-US" b="1" dirty="0" err="1"/>
              <a:t>실시간</a:t>
            </a:r>
            <a:r>
              <a:rPr lang="ko-KR" altLang="en-US" dirty="0" err="1"/>
              <a:t>“으로</a:t>
            </a:r>
            <a:r>
              <a:rPr lang="ko-KR" altLang="en-US" dirty="0"/>
              <a:t> 제공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1026" name="Picture 2" descr="https://omorobot.com/wp-content/uploads/2021/11/high_level_system_overvie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469247"/>
            <a:ext cx="447040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2819400" y="4661432"/>
            <a:ext cx="6324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https://google-cartographer-ros.readthedocs.io/en/latest/</a:t>
            </a:r>
          </a:p>
        </p:txBody>
      </p:sp>
    </p:spTree>
    <p:extLst>
      <p:ext uri="{BB962C8B-B14F-4D97-AF65-F5344CB8AC3E}">
        <p14:creationId xmlns:p14="http://schemas.microsoft.com/office/powerpoint/2010/main" val="546367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n-ea"/>
                <a:ea typeface="+mn-ea"/>
              </a:rPr>
              <a:t>SLAM- Navigation </a:t>
            </a:r>
            <a:r>
              <a:rPr lang="ko-KR" altLang="en-US" b="1" dirty="0">
                <a:latin typeface="+mn-ea"/>
                <a:ea typeface="+mn-ea"/>
              </a:rPr>
              <a:t>실행하기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dirty="0" err="1"/>
              <a:t>터틀봇을</a:t>
            </a:r>
            <a:r>
              <a:rPr lang="ko-KR" altLang="en-US" dirty="0"/>
              <a:t> </a:t>
            </a:r>
            <a:r>
              <a:rPr lang="ko-KR" altLang="en-US" dirty="0" err="1"/>
              <a:t>브링업을</a:t>
            </a:r>
            <a:r>
              <a:rPr lang="ko-KR" altLang="en-US" dirty="0"/>
              <a:t> 시킨다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슬램의 한 종류인 </a:t>
            </a:r>
            <a:r>
              <a:rPr lang="ko-KR" altLang="en-US" dirty="0" err="1"/>
              <a:t>카토그래퍼를</a:t>
            </a:r>
            <a:r>
              <a:rPr lang="ko-KR" altLang="en-US" dirty="0"/>
              <a:t> 실행한다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ko-KR" dirty="0"/>
              <a:t>텔레오퍼레이션 노드를 </a:t>
            </a:r>
            <a:br>
              <a:rPr lang="en-US" altLang="ko-KR" dirty="0"/>
            </a:br>
            <a:r>
              <a:rPr lang="ko-KR" altLang="ko-KR" dirty="0"/>
              <a:t>실행 한다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4. </a:t>
            </a:r>
            <a:r>
              <a:rPr lang="ko-KR" altLang="ko-KR" dirty="0" err="1"/>
              <a:t>터틀봇을</a:t>
            </a:r>
            <a:r>
              <a:rPr lang="ko-KR" altLang="ko-KR" dirty="0"/>
              <a:t> 움직이면서 </a:t>
            </a:r>
            <a:br>
              <a:rPr lang="en-US" altLang="ko-KR" dirty="0"/>
            </a:br>
            <a:r>
              <a:rPr lang="ko-KR" altLang="ko-KR" dirty="0"/>
              <a:t>지도를 그린다</a:t>
            </a:r>
            <a:r>
              <a:rPr lang="en-US" altLang="ko-KR" dirty="0"/>
              <a:t>. </a:t>
            </a:r>
            <a:endParaRPr lang="ko-KR" altLang="ko-KR" dirty="0"/>
          </a:p>
          <a:p>
            <a:endParaRPr lang="ko-KR" altLang="ko-KR" dirty="0"/>
          </a:p>
        </p:txBody>
      </p:sp>
      <p:pic>
        <p:nvPicPr>
          <p:cNvPr id="4" name="그림 3" descr="https://emanual.robotis.com/assets/images/platform/turtlebot3/slam/slam_running_for_mapping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50" y="2522269"/>
            <a:ext cx="5238750" cy="233743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B56C35-BC62-CA46-C3F6-77719D6AC821}"/>
              </a:ext>
            </a:extLst>
          </p:cNvPr>
          <p:cNvSpPr txBox="1"/>
          <p:nvPr/>
        </p:nvSpPr>
        <p:spPr>
          <a:xfrm>
            <a:off x="685800" y="1047750"/>
            <a:ext cx="6581110" cy="738664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wrap="square">
            <a:spAutoFit/>
          </a:bodyPr>
          <a:lstStyle/>
          <a:p>
            <a:r>
              <a:rPr lang="en-US" altLang="ko-KR" sz="1400"/>
              <a:t>ssh ubuntu@{IP_ADDRESS_OF_RASPBERRY_PI}</a:t>
            </a:r>
          </a:p>
          <a:p>
            <a:r>
              <a:rPr lang="en-US" altLang="ko-KR" sz="1400"/>
              <a:t>export TURTLEBOT3_MODEL=burger</a:t>
            </a:r>
          </a:p>
          <a:p>
            <a:r>
              <a:rPr lang="en-US" altLang="ko-KR" sz="1400"/>
              <a:t>ros2 launch turtlebot3_bringup robot.launch.py</a:t>
            </a:r>
            <a:endParaRPr lang="ko-KR" alt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DE8E88-390D-6CD0-ED29-CCB3D8D6D27D}"/>
              </a:ext>
            </a:extLst>
          </p:cNvPr>
          <p:cNvSpPr txBox="1"/>
          <p:nvPr/>
        </p:nvSpPr>
        <p:spPr>
          <a:xfrm>
            <a:off x="762000" y="2354088"/>
            <a:ext cx="6581110" cy="523220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wrap="square">
            <a:spAutoFit/>
          </a:bodyPr>
          <a:lstStyle/>
          <a:p>
            <a:r>
              <a:rPr lang="ko-KR" altLang="en-US" sz="1400" dirty="0" err="1"/>
              <a:t>export</a:t>
            </a:r>
            <a:r>
              <a:rPr lang="ko-KR" altLang="en-US" sz="1400" dirty="0"/>
              <a:t> TURTLEBOT3_MODEL=</a:t>
            </a:r>
            <a:r>
              <a:rPr lang="ko-KR" altLang="en-US" sz="1400" dirty="0" err="1"/>
              <a:t>burger</a:t>
            </a:r>
            <a:endParaRPr lang="ko-KR" altLang="en-US" sz="1400" dirty="0"/>
          </a:p>
          <a:p>
            <a:r>
              <a:rPr lang="ko-KR" altLang="en-US" sz="1400" dirty="0"/>
              <a:t>ros2 </a:t>
            </a:r>
            <a:r>
              <a:rPr lang="ko-KR" altLang="en-US" sz="1400" dirty="0" err="1"/>
              <a:t>launch</a:t>
            </a:r>
            <a:r>
              <a:rPr lang="ko-KR" altLang="en-US" sz="1400" dirty="0"/>
              <a:t> turtlebot3_cartographer cartographer.launch.py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0C3078-5E32-5DEF-A1C6-5B34315D772A}"/>
              </a:ext>
            </a:extLst>
          </p:cNvPr>
          <p:cNvSpPr txBox="1"/>
          <p:nvPr/>
        </p:nvSpPr>
        <p:spPr>
          <a:xfrm>
            <a:off x="838200" y="3554773"/>
            <a:ext cx="5590510" cy="523220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wrap="square">
            <a:spAutoFit/>
          </a:bodyPr>
          <a:lstStyle/>
          <a:p>
            <a:r>
              <a:rPr lang="ko-KR" altLang="en-US" sz="1400" dirty="0" err="1"/>
              <a:t>export</a:t>
            </a:r>
            <a:r>
              <a:rPr lang="ko-KR" altLang="en-US" sz="1400" dirty="0"/>
              <a:t> TURTLEBOT3_MODEL=</a:t>
            </a:r>
            <a:r>
              <a:rPr lang="ko-KR" altLang="en-US" sz="1400" dirty="0" err="1"/>
              <a:t>burger</a:t>
            </a:r>
            <a:endParaRPr lang="ko-KR" altLang="en-US" sz="1400" dirty="0"/>
          </a:p>
          <a:p>
            <a:r>
              <a:rPr lang="ko-KR" altLang="en-US" sz="1400" dirty="0"/>
              <a:t>ros2 </a:t>
            </a:r>
            <a:r>
              <a:rPr lang="ko-KR" altLang="en-US" sz="1400" dirty="0" err="1"/>
              <a:t>run</a:t>
            </a:r>
            <a:r>
              <a:rPr lang="ko-KR" altLang="en-US" sz="1400" dirty="0"/>
              <a:t> turtlebot3_teleop </a:t>
            </a:r>
            <a:r>
              <a:rPr lang="ko-KR" altLang="en-US" sz="1400" dirty="0" err="1"/>
              <a:t>teleop_keyboard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57769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n-ea"/>
                <a:ea typeface="+mn-ea"/>
              </a:rPr>
              <a:t>SLAM- Navigation Cartographer</a:t>
            </a:r>
            <a:r>
              <a:rPr lang="ko-KR" altLang="en-US" b="1" dirty="0">
                <a:latin typeface="+mn-ea"/>
                <a:ea typeface="+mn-ea"/>
              </a:rPr>
              <a:t>튜닝하기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turtlebot3_cartographer/</a:t>
            </a:r>
            <a:r>
              <a:rPr lang="en-US" altLang="ko-KR" dirty="0" err="1"/>
              <a:t>config</a:t>
            </a:r>
            <a:r>
              <a:rPr lang="en-US" altLang="ko-KR" dirty="0"/>
              <a:t>/turtlebot3_lds_2d.lua  </a:t>
            </a:r>
            <a:r>
              <a:rPr lang="ko-KR" altLang="en-US" dirty="0"/>
              <a:t>파일을 연다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u="sng" dirty="0">
                <a:hlinkClick r:id="rId2"/>
              </a:rPr>
              <a:t>https://google-cartographer-ros.readthedocs.io/en/latest/algo_walkthrough.html</a:t>
            </a:r>
            <a:endParaRPr lang="ko-KR" altLang="ko-KR" dirty="0"/>
          </a:p>
          <a:p>
            <a:endParaRPr lang="en-US" altLang="ko-KR" dirty="0"/>
          </a:p>
          <a:p>
            <a:r>
              <a:rPr lang="ko-KR" altLang="en-US" dirty="0"/>
              <a:t>다음 페이지를 참고 하여 변수 값을 조절한다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707723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n-ea"/>
              </a:rPr>
              <a:t>SLAM- Navigation </a:t>
            </a:r>
            <a:r>
              <a:rPr lang="ko-KR" altLang="en-US" b="1" dirty="0">
                <a:latin typeface="+mn-ea"/>
                <a:ea typeface="+mn-ea"/>
              </a:rPr>
              <a:t>지도 저장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Nav2_map_server </a:t>
            </a:r>
            <a:r>
              <a:rPr lang="ko-KR" altLang="ko-KR" dirty="0"/>
              <a:t>패키지에 있는</a:t>
            </a:r>
            <a:r>
              <a:rPr lang="en-US" altLang="ko-KR" dirty="0"/>
              <a:t> </a:t>
            </a:r>
            <a:r>
              <a:rPr lang="en-US" altLang="ko-KR" dirty="0" err="1"/>
              <a:t>map_saver_cli</a:t>
            </a:r>
            <a:r>
              <a:rPr lang="en-US" altLang="ko-KR" dirty="0"/>
              <a:t> </a:t>
            </a:r>
            <a:r>
              <a:rPr lang="ko-KR" altLang="ko-KR" dirty="0"/>
              <a:t>노드를 실행하면 지도 파일이 만들어지게 된다</a:t>
            </a:r>
            <a:r>
              <a:rPr lang="en-US" altLang="ko-KR" dirty="0"/>
              <a:t>. </a:t>
            </a:r>
            <a:r>
              <a:rPr lang="ko-KR" altLang="ko-KR" dirty="0"/>
              <a:t>기본적으로 </a:t>
            </a:r>
            <a:r>
              <a:rPr lang="en-US" altLang="ko-KR" dirty="0" err="1"/>
              <a:t>map.pgm</a:t>
            </a:r>
            <a:r>
              <a:rPr lang="en-US" altLang="ko-KR" dirty="0"/>
              <a:t> </a:t>
            </a:r>
            <a:r>
              <a:rPr lang="ko-KR" altLang="ko-KR" dirty="0"/>
              <a:t>과 </a:t>
            </a:r>
            <a:r>
              <a:rPr lang="en-US" altLang="ko-KR" dirty="0" err="1"/>
              <a:t>map.yaml</a:t>
            </a:r>
            <a:r>
              <a:rPr lang="en-US" altLang="ko-KR" dirty="0"/>
              <a:t> </a:t>
            </a:r>
            <a:r>
              <a:rPr lang="ko-KR" altLang="ko-KR" dirty="0"/>
              <a:t>파일이 만들어지게 되며 옵션을 주어서 이름을 변경 할 수 있다</a:t>
            </a:r>
            <a:r>
              <a:rPr lang="en-US" altLang="ko-KR" dirty="0"/>
              <a:t>.  </a:t>
            </a:r>
            <a:endParaRPr lang="ko-KR" altLang="ko-KR" dirty="0"/>
          </a:p>
          <a:p>
            <a:r>
              <a:rPr lang="en-US" altLang="ko-KR" dirty="0"/>
              <a:t>$ ros2 run nav2_map_server </a:t>
            </a:r>
            <a:r>
              <a:rPr lang="en-US" altLang="ko-KR" dirty="0" err="1"/>
              <a:t>map_saver_cli</a:t>
            </a:r>
            <a:r>
              <a:rPr lang="en-US" altLang="ko-KR" dirty="0"/>
              <a:t> -f ~/map</a:t>
            </a:r>
            <a:endParaRPr lang="ko-KR" altLang="ko-KR" dirty="0"/>
          </a:p>
          <a:p>
            <a:endParaRPr lang="en-US" altLang="ko-KR" dirty="0"/>
          </a:p>
          <a:p>
            <a:endParaRPr lang="ko-KR" altLang="ko-KR" dirty="0"/>
          </a:p>
        </p:txBody>
      </p:sp>
      <p:pic>
        <p:nvPicPr>
          <p:cNvPr id="4" name="그림 3" descr="https://emanual.robotis.com/assets/images/platform/turtlebot3/slam/map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962150"/>
            <a:ext cx="1892300" cy="21443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0293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2B74E9-C233-5C21-7E53-25637656A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2D </a:t>
            </a:r>
            <a:r>
              <a:rPr lang="ko-KR" altLang="en-US" dirty="0"/>
              <a:t>맵 토픽 </a:t>
            </a:r>
            <a:r>
              <a:rPr lang="en-US" altLang="ko-KR" b="1" dirty="0"/>
              <a:t>/map</a:t>
            </a:r>
            <a:r>
              <a:rPr lang="en-US" altLang="ko-KR" dirty="0"/>
              <a:t>(</a:t>
            </a:r>
            <a:r>
              <a:rPr lang="en-US" altLang="ko-KR" dirty="0" err="1"/>
              <a:t>nav_msgs</a:t>
            </a:r>
            <a:r>
              <a:rPr lang="en-US" altLang="ko-KR" dirty="0"/>
              <a:t>/msg/</a:t>
            </a:r>
            <a:r>
              <a:rPr lang="en-US" altLang="ko-KR" dirty="0" err="1"/>
              <a:t>OccupancyGrid</a:t>
            </a:r>
            <a:r>
              <a:rPr lang="en-US" altLang="ko-KR" dirty="0"/>
              <a:t>)</a:t>
            </a:r>
            <a:r>
              <a:rPr lang="ko-KR" altLang="en-US" dirty="0"/>
              <a:t>의 이해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FF2787-7F5C-FCBB-B85D-584E2468D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ROS 2 Humble</a:t>
            </a:r>
            <a:r>
              <a:rPr lang="ko-KR" altLang="en-US" dirty="0"/>
              <a:t>에서 </a:t>
            </a:r>
            <a:r>
              <a:rPr lang="en-US" altLang="ko-KR" dirty="0"/>
              <a:t>cartographer</a:t>
            </a:r>
            <a:r>
              <a:rPr lang="ko-KR" altLang="en-US" dirty="0"/>
              <a:t>를 실행하면 </a:t>
            </a:r>
            <a:r>
              <a:rPr lang="en-US" altLang="ko-KR" dirty="0"/>
              <a:t>/map </a:t>
            </a:r>
            <a:r>
              <a:rPr lang="ko-KR" altLang="en-US" dirty="0"/>
              <a:t>토픽은 </a:t>
            </a:r>
            <a:r>
              <a:rPr lang="en-US" altLang="ko-KR" dirty="0" err="1"/>
              <a:t>OccupancyGrid</a:t>
            </a:r>
            <a:r>
              <a:rPr lang="en-US" altLang="ko-KR" dirty="0"/>
              <a:t> </a:t>
            </a:r>
            <a:r>
              <a:rPr lang="ko-KR" altLang="en-US" dirty="0"/>
              <a:t>타입으로 발행</a:t>
            </a:r>
            <a:endParaRPr lang="en-US" altLang="ko-KR" dirty="0"/>
          </a:p>
          <a:p>
            <a:r>
              <a:rPr lang="ko-KR" altLang="en-US" dirty="0"/>
              <a:t>이 인터페이스 타입은 </a:t>
            </a:r>
            <a:r>
              <a:rPr lang="en-US" altLang="ko-KR" dirty="0" err="1"/>
              <a:t>nav_msgs</a:t>
            </a:r>
            <a:r>
              <a:rPr lang="en-US" altLang="ko-KR" dirty="0"/>
              <a:t>/msg/</a:t>
            </a:r>
            <a:r>
              <a:rPr lang="en-US" altLang="ko-KR" dirty="0" err="1"/>
              <a:t>OccupancyGrid</a:t>
            </a:r>
            <a:r>
              <a:rPr lang="ko-KR" altLang="en-US" dirty="0"/>
              <a:t>에 정의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각 필드 설명</a:t>
            </a:r>
          </a:p>
          <a:p>
            <a:pPr marL="300038" lvl="1" indent="0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header</a:t>
            </a:r>
            <a:endParaRPr kumimoji="0" lang="ko-KR" altLang="ko-KR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600075" lvl="2" indent="0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stamp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메시지가 발행된 시각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00075" lvl="2" indent="0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frame_id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맵 데이터의 좌표 프레임 (일반적으로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map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00038" lvl="1" indent="0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info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(지도 메타데이터)</a:t>
            </a:r>
            <a:endParaRPr kumimoji="0" lang="ko-KR" altLang="ko-KR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00075" lvl="2" indent="0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map_load_time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지도가 로드된 시각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00075" lvl="2" indent="0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resolution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한 셀의 크기 (단위: 미터)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00075" lvl="2" indent="0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width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맵의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너비 (셀 단위)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00075" lvl="2" indent="0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height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맵의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높이 (셀 단위)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00075" lvl="2" indent="0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origin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맵의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원점 좌표와 방향 (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ROS의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표준 좌표계를 기준으로 정의)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00038" lvl="1" indent="0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data</a:t>
            </a:r>
            <a:endParaRPr kumimoji="0" lang="ko-KR" altLang="ko-KR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600075" lvl="2" indent="0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맵 데이터를 저장하는 배열. 각 값은 다음과 같은 상태를 나타냄:</a:t>
            </a:r>
          </a:p>
          <a:p>
            <a:pPr marL="757237" lvl="2" indent="0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-1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정보 없음 (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unknown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57237" lvl="2" indent="0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ko-KR" altLang="ko-KR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공간이 비어 있음 (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free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space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57237" lvl="2" indent="0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ko-KR" sz="1000" b="1" dirty="0">
                <a:latin typeface="Arial Unicode MS"/>
              </a:rPr>
              <a:t>100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장애물 (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occupied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FA3A01-5077-57AE-D3E7-19DC95C158B7}"/>
              </a:ext>
            </a:extLst>
          </p:cNvPr>
          <p:cNvSpPr txBox="1"/>
          <p:nvPr/>
        </p:nvSpPr>
        <p:spPr>
          <a:xfrm>
            <a:off x="5410200" y="1036395"/>
            <a:ext cx="3429000" cy="3785652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wrap="square">
            <a:spAutoFit/>
          </a:bodyPr>
          <a:lstStyle/>
          <a:p>
            <a:r>
              <a:rPr lang="ko-KR" altLang="en-US" sz="1200" dirty="0" err="1"/>
              <a:t>std_msgs</a:t>
            </a:r>
            <a:r>
              <a:rPr lang="ko-KR" altLang="en-US" sz="1200" dirty="0"/>
              <a:t>/</a:t>
            </a:r>
            <a:r>
              <a:rPr lang="ko-KR" altLang="en-US" sz="1200" dirty="0" err="1"/>
              <a:t>Header</a:t>
            </a:r>
            <a:r>
              <a:rPr lang="ko-KR" altLang="en-US" sz="1200" dirty="0"/>
              <a:t> </a:t>
            </a:r>
            <a:r>
              <a:rPr lang="ko-KR" altLang="en-US" sz="1200" dirty="0" err="1"/>
              <a:t>header</a:t>
            </a:r>
            <a:endParaRPr lang="ko-KR" altLang="en-US" sz="1200" dirty="0"/>
          </a:p>
          <a:p>
            <a:r>
              <a:rPr lang="ko-KR" altLang="en-US" sz="1200" dirty="0"/>
              <a:t>  uint32 </a:t>
            </a:r>
            <a:r>
              <a:rPr lang="ko-KR" altLang="en-US" sz="1200" dirty="0" err="1"/>
              <a:t>seq</a:t>
            </a:r>
            <a:endParaRPr lang="ko-KR" altLang="en-US" sz="1200" dirty="0"/>
          </a:p>
          <a:p>
            <a:r>
              <a:rPr lang="ko-KR" altLang="en-US" sz="1200" dirty="0"/>
              <a:t>  </a:t>
            </a:r>
            <a:r>
              <a:rPr lang="ko-KR" altLang="en-US" sz="1200" dirty="0" err="1"/>
              <a:t>time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stamp</a:t>
            </a:r>
            <a:endParaRPr lang="ko-KR" altLang="en-US" sz="1200" dirty="0"/>
          </a:p>
          <a:p>
            <a:r>
              <a:rPr lang="ko-KR" altLang="en-US" sz="1200" dirty="0"/>
              <a:t>  </a:t>
            </a:r>
            <a:r>
              <a:rPr lang="ko-KR" altLang="en-US" sz="1200" dirty="0" err="1"/>
              <a:t>string</a:t>
            </a:r>
            <a:r>
              <a:rPr lang="ko-KR" altLang="en-US" sz="1200" dirty="0"/>
              <a:t> </a:t>
            </a:r>
            <a:r>
              <a:rPr lang="ko-KR" altLang="en-US" sz="1200" dirty="0" err="1"/>
              <a:t>frame_id</a:t>
            </a:r>
            <a:endParaRPr lang="ko-KR" altLang="en-US" sz="1200" dirty="0"/>
          </a:p>
          <a:p>
            <a:r>
              <a:rPr lang="ko-KR" altLang="en-US" sz="1200" dirty="0" err="1"/>
              <a:t>nav_msgs</a:t>
            </a:r>
            <a:r>
              <a:rPr lang="ko-KR" altLang="en-US" sz="1200" dirty="0"/>
              <a:t>/</a:t>
            </a:r>
            <a:r>
              <a:rPr lang="ko-KR" altLang="en-US" sz="1200" dirty="0" err="1"/>
              <a:t>MapMetaData</a:t>
            </a:r>
            <a:r>
              <a:rPr lang="ko-KR" altLang="en-US" sz="1200" dirty="0"/>
              <a:t> </a:t>
            </a:r>
            <a:r>
              <a:rPr lang="ko-KR" altLang="en-US" sz="1200" dirty="0" err="1"/>
              <a:t>info</a:t>
            </a:r>
            <a:endParaRPr lang="ko-KR" altLang="en-US" sz="1200" dirty="0"/>
          </a:p>
          <a:p>
            <a:r>
              <a:rPr lang="ko-KR" altLang="en-US" sz="1200" dirty="0"/>
              <a:t>  </a:t>
            </a:r>
            <a:r>
              <a:rPr lang="ko-KR" altLang="en-US" sz="1200" dirty="0" err="1"/>
              <a:t>time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map_load_time</a:t>
            </a:r>
            <a:endParaRPr lang="ko-KR" altLang="en-US" sz="1200" dirty="0"/>
          </a:p>
          <a:p>
            <a:r>
              <a:rPr lang="ko-KR" altLang="en-US" sz="1200" dirty="0"/>
              <a:t>  float32 </a:t>
            </a:r>
            <a:r>
              <a:rPr lang="ko-KR" altLang="en-US" sz="1200" dirty="0" err="1"/>
              <a:t>resolution</a:t>
            </a:r>
            <a:endParaRPr lang="ko-KR" altLang="en-US" sz="1200" dirty="0"/>
          </a:p>
          <a:p>
            <a:r>
              <a:rPr lang="ko-KR" altLang="en-US" sz="1200" dirty="0"/>
              <a:t>  uint32 </a:t>
            </a:r>
            <a:r>
              <a:rPr lang="ko-KR" altLang="en-US" sz="1200" dirty="0" err="1"/>
              <a:t>width</a:t>
            </a:r>
            <a:endParaRPr lang="ko-KR" altLang="en-US" sz="1200" dirty="0"/>
          </a:p>
          <a:p>
            <a:r>
              <a:rPr lang="ko-KR" altLang="en-US" sz="1200" dirty="0"/>
              <a:t>  uint32 </a:t>
            </a:r>
            <a:r>
              <a:rPr lang="ko-KR" altLang="en-US" sz="1200" dirty="0" err="1"/>
              <a:t>height</a:t>
            </a:r>
            <a:endParaRPr lang="ko-KR" altLang="en-US" sz="1200" dirty="0"/>
          </a:p>
          <a:p>
            <a:r>
              <a:rPr lang="ko-KR" altLang="en-US" sz="1200" dirty="0"/>
              <a:t>  </a:t>
            </a:r>
            <a:r>
              <a:rPr lang="ko-KR" altLang="en-US" sz="1200" dirty="0" err="1"/>
              <a:t>geometry_msgs</a:t>
            </a:r>
            <a:r>
              <a:rPr lang="ko-KR" altLang="en-US" sz="1200" dirty="0"/>
              <a:t>/</a:t>
            </a:r>
            <a:r>
              <a:rPr lang="ko-KR" altLang="en-US" sz="1200" dirty="0" err="1"/>
              <a:t>Pose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origin</a:t>
            </a:r>
            <a:endParaRPr lang="ko-KR" altLang="en-US" sz="1200" dirty="0"/>
          </a:p>
          <a:p>
            <a:r>
              <a:rPr lang="ko-KR" altLang="en-US" sz="1200" dirty="0"/>
              <a:t>    </a:t>
            </a:r>
            <a:r>
              <a:rPr lang="ko-KR" altLang="en-US" sz="1200" dirty="0" err="1"/>
              <a:t>geometry_msgs</a:t>
            </a:r>
            <a:r>
              <a:rPr lang="ko-KR" altLang="en-US" sz="1200" dirty="0"/>
              <a:t>/</a:t>
            </a:r>
            <a:r>
              <a:rPr lang="ko-KR" altLang="en-US" sz="1200" dirty="0" err="1"/>
              <a:t>Point</a:t>
            </a:r>
            <a:r>
              <a:rPr lang="ko-KR" altLang="en-US" sz="1200" dirty="0"/>
              <a:t> </a:t>
            </a:r>
            <a:r>
              <a:rPr lang="ko-KR" altLang="en-US" sz="1200" dirty="0" err="1"/>
              <a:t>position</a:t>
            </a:r>
            <a:endParaRPr lang="ko-KR" altLang="en-US" sz="1200" dirty="0"/>
          </a:p>
          <a:p>
            <a:r>
              <a:rPr lang="ko-KR" altLang="en-US" sz="1200" dirty="0"/>
              <a:t>      float64 </a:t>
            </a:r>
            <a:r>
              <a:rPr lang="ko-KR" altLang="en-US" sz="1200" dirty="0" err="1"/>
              <a:t>x</a:t>
            </a:r>
            <a:endParaRPr lang="ko-KR" altLang="en-US" sz="1200" dirty="0"/>
          </a:p>
          <a:p>
            <a:r>
              <a:rPr lang="ko-KR" altLang="en-US" sz="1200" dirty="0"/>
              <a:t>      float64 </a:t>
            </a:r>
            <a:r>
              <a:rPr lang="ko-KR" altLang="en-US" sz="1200" dirty="0" err="1"/>
              <a:t>y</a:t>
            </a:r>
            <a:endParaRPr lang="ko-KR" altLang="en-US" sz="1200" dirty="0"/>
          </a:p>
          <a:p>
            <a:r>
              <a:rPr lang="ko-KR" altLang="en-US" sz="1200" dirty="0"/>
              <a:t>      float64 </a:t>
            </a:r>
            <a:r>
              <a:rPr lang="ko-KR" altLang="en-US" sz="1200" dirty="0" err="1"/>
              <a:t>z</a:t>
            </a:r>
            <a:endParaRPr lang="ko-KR" altLang="en-US" sz="1200" dirty="0"/>
          </a:p>
          <a:p>
            <a:r>
              <a:rPr lang="ko-KR" altLang="en-US" sz="1200" dirty="0"/>
              <a:t>    </a:t>
            </a:r>
            <a:r>
              <a:rPr lang="ko-KR" altLang="en-US" sz="1200" dirty="0" err="1"/>
              <a:t>geometry_msgs</a:t>
            </a:r>
            <a:r>
              <a:rPr lang="ko-KR" altLang="en-US" sz="1200" dirty="0"/>
              <a:t>/</a:t>
            </a:r>
            <a:r>
              <a:rPr lang="ko-KR" altLang="en-US" sz="1200" dirty="0" err="1"/>
              <a:t>Quaternion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orientation</a:t>
            </a:r>
            <a:endParaRPr lang="ko-KR" altLang="en-US" sz="1200" dirty="0"/>
          </a:p>
          <a:p>
            <a:r>
              <a:rPr lang="ko-KR" altLang="en-US" sz="1200" dirty="0"/>
              <a:t>      float64 </a:t>
            </a:r>
            <a:r>
              <a:rPr lang="ko-KR" altLang="en-US" sz="1200" dirty="0" err="1"/>
              <a:t>x</a:t>
            </a:r>
            <a:endParaRPr lang="ko-KR" altLang="en-US" sz="1200" dirty="0"/>
          </a:p>
          <a:p>
            <a:r>
              <a:rPr lang="ko-KR" altLang="en-US" sz="1200" dirty="0"/>
              <a:t>      float64 </a:t>
            </a:r>
            <a:r>
              <a:rPr lang="ko-KR" altLang="en-US" sz="1200" dirty="0" err="1"/>
              <a:t>y</a:t>
            </a:r>
            <a:endParaRPr lang="ko-KR" altLang="en-US" sz="1200" dirty="0"/>
          </a:p>
          <a:p>
            <a:r>
              <a:rPr lang="ko-KR" altLang="en-US" sz="1200" dirty="0"/>
              <a:t>      float64 </a:t>
            </a:r>
            <a:r>
              <a:rPr lang="ko-KR" altLang="en-US" sz="1200" dirty="0" err="1"/>
              <a:t>z</a:t>
            </a:r>
            <a:endParaRPr lang="ko-KR" altLang="en-US" sz="1200" dirty="0"/>
          </a:p>
          <a:p>
            <a:r>
              <a:rPr lang="ko-KR" altLang="en-US" sz="1200" dirty="0"/>
              <a:t>      float64 </a:t>
            </a:r>
            <a:r>
              <a:rPr lang="ko-KR" altLang="en-US" sz="1200" dirty="0" err="1"/>
              <a:t>w</a:t>
            </a:r>
            <a:endParaRPr lang="ko-KR" altLang="en-US" sz="1200" dirty="0"/>
          </a:p>
          <a:p>
            <a:r>
              <a:rPr lang="ko-KR" altLang="en-US" sz="1200" dirty="0"/>
              <a:t>int8[] </a:t>
            </a:r>
            <a:r>
              <a:rPr lang="ko-KR" altLang="en-US" sz="1200" dirty="0" err="1"/>
              <a:t>data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173918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C85576-83D8-5247-D50C-83A6CB9B4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2D </a:t>
            </a:r>
            <a:r>
              <a:rPr lang="ko-KR" altLang="en-US" dirty="0"/>
              <a:t>맵 토픽 </a:t>
            </a:r>
            <a:r>
              <a:rPr lang="en-US" altLang="ko-KR" b="1" dirty="0"/>
              <a:t>/map</a:t>
            </a:r>
            <a:r>
              <a:rPr lang="en-US" altLang="ko-KR" dirty="0"/>
              <a:t>(</a:t>
            </a:r>
            <a:r>
              <a:rPr lang="en-US" altLang="ko-KR" dirty="0" err="1"/>
              <a:t>nav_msgs</a:t>
            </a:r>
            <a:r>
              <a:rPr lang="en-US" altLang="ko-KR" dirty="0"/>
              <a:t>/msg/</a:t>
            </a:r>
            <a:r>
              <a:rPr lang="en-US" altLang="ko-KR" dirty="0" err="1"/>
              <a:t>OccupancyGrid</a:t>
            </a:r>
            <a:r>
              <a:rPr lang="en-US" altLang="ko-KR" dirty="0"/>
              <a:t>)</a:t>
            </a:r>
            <a:r>
              <a:rPr lang="ko-KR" altLang="en-US" dirty="0"/>
              <a:t>의 이해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F98AA4-5F55-7183-1B41-B25365EC7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data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배열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00038" lvl="1" indent="0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data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는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맵의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셀 데이터를 1차원 배열로 저장합니다.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00038" lvl="1" indent="0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배열의 시작점(인덱스 0)은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맵의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왼쪽 아래 모서리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를 나타냅니다.</a:t>
            </a:r>
          </a:p>
          <a:p>
            <a:pPr marL="300038" lvl="1" indent="0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배열의 끝점은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맵의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오른쪽 위 모서리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를 나타냅니다.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데이터 배열 순서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00038" lvl="1" indent="0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배열은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row-major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로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저장됩니다.</a:t>
            </a:r>
          </a:p>
          <a:p>
            <a:pPr marL="300038" lvl="1" indent="0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먼저 가로로 저장된 후, 다음 줄로 넘어가는 방식입니다.</a:t>
            </a:r>
          </a:p>
          <a:p>
            <a:pPr marL="300038" lvl="1" indent="0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예: 3×3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맵의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배열 (왼쪽 아래가 시작):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ko-KR" alt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82C3AC-8291-D7D7-18EF-882D3420B467}"/>
              </a:ext>
            </a:extLst>
          </p:cNvPr>
          <p:cNvSpPr txBox="1"/>
          <p:nvPr/>
        </p:nvSpPr>
        <p:spPr>
          <a:xfrm>
            <a:off x="2057400" y="2495550"/>
            <a:ext cx="4589780" cy="738664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wrap="square">
            <a:spAutoFit/>
          </a:bodyPr>
          <a:lstStyle/>
          <a:p>
            <a:r>
              <a:rPr lang="ko-KR" altLang="en-US" sz="1400" dirty="0"/>
              <a:t>[a11, a12, a13,  # 첫 번째 행</a:t>
            </a:r>
          </a:p>
          <a:p>
            <a:r>
              <a:rPr lang="ko-KR" altLang="en-US" sz="1400" dirty="0"/>
              <a:t> a21, a22, a23,  # 두 번째 행</a:t>
            </a:r>
          </a:p>
          <a:p>
            <a:r>
              <a:rPr lang="ko-KR" altLang="en-US" sz="1400" dirty="0"/>
              <a:t> a31, a32, a33]  # 세 번째 행</a:t>
            </a:r>
          </a:p>
        </p:txBody>
      </p:sp>
    </p:spTree>
    <p:extLst>
      <p:ext uri="{BB962C8B-B14F-4D97-AF65-F5344CB8AC3E}">
        <p14:creationId xmlns:p14="http://schemas.microsoft.com/office/powerpoint/2010/main" val="4153083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5073F8-B5CD-3581-4C6A-1D88B89B6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2D </a:t>
            </a:r>
            <a:r>
              <a:rPr lang="ko-KR" altLang="en-US" dirty="0"/>
              <a:t>맵 토픽 </a:t>
            </a:r>
            <a:r>
              <a:rPr lang="en-US" altLang="ko-KR" b="1" dirty="0"/>
              <a:t>/map</a:t>
            </a:r>
            <a:r>
              <a:rPr lang="en-US" altLang="ko-KR" dirty="0"/>
              <a:t>(</a:t>
            </a:r>
            <a:r>
              <a:rPr lang="en-US" altLang="ko-KR" dirty="0" err="1"/>
              <a:t>nav_msgs</a:t>
            </a:r>
            <a:r>
              <a:rPr lang="en-US" altLang="ko-KR" dirty="0"/>
              <a:t>/msg/</a:t>
            </a:r>
            <a:r>
              <a:rPr lang="en-US" altLang="ko-KR" dirty="0" err="1"/>
              <a:t>OccupancyGrid</a:t>
            </a:r>
            <a:r>
              <a:rPr lang="en-US" altLang="ko-KR" dirty="0"/>
              <a:t>)</a:t>
            </a:r>
            <a:r>
              <a:rPr lang="ko-KR" altLang="en-US" dirty="0"/>
              <a:t>의 이해 </a:t>
            </a: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CFD34DB0-1A80-034C-94D4-2E357CB25A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3538" y="696913"/>
            <a:ext cx="7256923" cy="4125912"/>
          </a:xfrm>
        </p:spPr>
      </p:pic>
    </p:spTree>
    <p:extLst>
      <p:ext uri="{BB962C8B-B14F-4D97-AF65-F5344CB8AC3E}">
        <p14:creationId xmlns:p14="http://schemas.microsoft.com/office/powerpoint/2010/main" val="17403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A8F2E-FE3E-A78A-C1B6-CB5303138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A1FD34-5E5D-D17F-FA72-1A891D8D4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2D </a:t>
            </a:r>
            <a:r>
              <a:rPr lang="ko-KR" altLang="en-US" dirty="0"/>
              <a:t>맵 토픽 </a:t>
            </a:r>
            <a:r>
              <a:rPr lang="en-US" altLang="ko-KR" b="1" dirty="0"/>
              <a:t>/map</a:t>
            </a:r>
            <a:r>
              <a:rPr lang="en-US" altLang="ko-KR" dirty="0"/>
              <a:t>(</a:t>
            </a:r>
            <a:r>
              <a:rPr lang="en-US" altLang="ko-KR" dirty="0" err="1"/>
              <a:t>nav_msgs</a:t>
            </a:r>
            <a:r>
              <a:rPr lang="en-US" altLang="ko-KR" dirty="0"/>
              <a:t>/msg/</a:t>
            </a:r>
            <a:r>
              <a:rPr lang="en-US" altLang="ko-KR" dirty="0" err="1"/>
              <a:t>OccupancyGrid</a:t>
            </a:r>
            <a:r>
              <a:rPr lang="en-US" altLang="ko-KR" dirty="0"/>
              <a:t>)</a:t>
            </a:r>
            <a:r>
              <a:rPr lang="ko-KR" altLang="en-US" dirty="0"/>
              <a:t>의 이해 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D8D1F95E-E7FA-CCE9-99D1-12359ED402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2881" y="696913"/>
            <a:ext cx="6298238" cy="4125912"/>
          </a:xfrm>
        </p:spPr>
      </p:pic>
    </p:spTree>
    <p:extLst>
      <p:ext uri="{BB962C8B-B14F-4D97-AF65-F5344CB8AC3E}">
        <p14:creationId xmlns:p14="http://schemas.microsoft.com/office/powerpoint/2010/main" val="266455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E3AB4-715C-CAA9-3E43-63C81E470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A2878E-ECAE-BD43-3C96-CB74C4315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2D </a:t>
            </a:r>
            <a:r>
              <a:rPr lang="ko-KR" altLang="en-US" dirty="0"/>
              <a:t>맵 토픽 </a:t>
            </a:r>
            <a:r>
              <a:rPr lang="en-US" altLang="ko-KR" b="1" dirty="0"/>
              <a:t>/map</a:t>
            </a:r>
            <a:r>
              <a:rPr lang="en-US" altLang="ko-KR" dirty="0"/>
              <a:t>(</a:t>
            </a:r>
            <a:r>
              <a:rPr lang="en-US" altLang="ko-KR" dirty="0" err="1"/>
              <a:t>nav_msgs</a:t>
            </a:r>
            <a:r>
              <a:rPr lang="en-US" altLang="ko-KR" dirty="0"/>
              <a:t>/msg/</a:t>
            </a:r>
            <a:r>
              <a:rPr lang="en-US" altLang="ko-KR" dirty="0" err="1"/>
              <a:t>OccupancyGrid</a:t>
            </a:r>
            <a:r>
              <a:rPr lang="en-US" altLang="ko-KR" dirty="0"/>
              <a:t>)</a:t>
            </a:r>
            <a:r>
              <a:rPr lang="ko-KR" altLang="en-US" dirty="0"/>
              <a:t>의 이해 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6D9D9A2F-7A95-76C6-135B-1505C032B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실행은 </a:t>
            </a:r>
            <a:r>
              <a:rPr lang="en-US" altLang="ko-KR" dirty="0" err="1"/>
              <a:t>odom</a:t>
            </a:r>
            <a:r>
              <a:rPr lang="en-US" altLang="ko-KR" dirty="0"/>
              <a:t> </a:t>
            </a:r>
            <a:r>
              <a:rPr lang="en-US" altLang="ko-KR" dirty="0" err="1"/>
              <a:t>tf</a:t>
            </a:r>
            <a:r>
              <a:rPr lang="ko-KR" altLang="en-US" dirty="0"/>
              <a:t>를 발행하고 </a:t>
            </a:r>
            <a:r>
              <a:rPr lang="en-US" altLang="ko-KR" dirty="0"/>
              <a:t>rviz2 </a:t>
            </a:r>
            <a:r>
              <a:rPr lang="ko-KR" altLang="en-US" dirty="0"/>
              <a:t>를 실행하여 </a:t>
            </a:r>
            <a:r>
              <a:rPr lang="en-US" altLang="ko-KR" dirty="0"/>
              <a:t>map</a:t>
            </a:r>
            <a:r>
              <a:rPr lang="ko-KR" altLang="en-US" dirty="0"/>
              <a:t>을 열어서 확인한다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ros2 run </a:t>
            </a:r>
            <a:r>
              <a:rPr lang="en-US" altLang="ko-KR" dirty="0" err="1"/>
              <a:t>simple_ros</a:t>
            </a:r>
            <a:r>
              <a:rPr lang="en-US" altLang="ko-KR" dirty="0"/>
              <a:t> </a:t>
            </a:r>
            <a:r>
              <a:rPr lang="en-US" altLang="ko-KR" dirty="0" err="1"/>
              <a:t>publish_map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rviz2</a:t>
            </a:r>
          </a:p>
          <a:p>
            <a:pPr lvl="1"/>
            <a:r>
              <a:rPr lang="en-US" altLang="ko-KR" dirty="0"/>
              <a:t>ros2 run tf2_ros </a:t>
            </a:r>
            <a:r>
              <a:rPr lang="en-US" altLang="ko-KR" dirty="0" err="1"/>
              <a:t>static_transform_publisher</a:t>
            </a:r>
            <a:r>
              <a:rPr lang="en-US" altLang="ko-KR" dirty="0"/>
              <a:t> 0 0 0 0 0 0 map </a:t>
            </a:r>
            <a:r>
              <a:rPr lang="en-US" altLang="ko-KR" dirty="0" err="1"/>
              <a:t>odom</a:t>
            </a:r>
            <a:endParaRPr lang="en-US" altLang="ko-KR" dirty="0"/>
          </a:p>
          <a:p>
            <a:pPr lvl="1"/>
            <a:r>
              <a:rPr lang="ko-KR" altLang="en-US" dirty="0"/>
              <a:t>위 세 명령어를 각 터미널에서 실행 한다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10" name="내용 개체 틀 6">
            <a:extLst>
              <a:ext uri="{FF2B5EF4-FFF2-40B4-BE49-F238E27FC236}">
                <a16:creationId xmlns:a16="http://schemas.microsoft.com/office/drawing/2014/main" id="{5BF0D0CC-7B52-183F-DDC3-1A9213176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696502"/>
            <a:ext cx="4448796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103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n-ea"/>
              </a:rPr>
              <a:t>SLAM- Navigation- </a:t>
            </a:r>
            <a:r>
              <a:rPr lang="ko-KR" altLang="en-US" b="1" dirty="0" err="1">
                <a:latin typeface="+mn-ea"/>
              </a:rPr>
              <a:t>네비</a:t>
            </a:r>
            <a:r>
              <a:rPr lang="ko-KR" altLang="en-US" b="1" dirty="0">
                <a:latin typeface="+mn-ea"/>
              </a:rPr>
              <a:t> </a:t>
            </a:r>
            <a:r>
              <a:rPr lang="ko-KR" altLang="en-US" b="1" dirty="0">
                <a:latin typeface="+mn-ea"/>
                <a:ea typeface="+mn-ea"/>
              </a:rPr>
              <a:t>초기화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ko-KR" dirty="0" err="1"/>
              <a:t>터틀봇을</a:t>
            </a:r>
            <a:r>
              <a:rPr lang="ko-KR" altLang="ko-KR" dirty="0"/>
              <a:t> </a:t>
            </a:r>
            <a:r>
              <a:rPr lang="ko-KR" altLang="ko-KR" dirty="0" err="1"/>
              <a:t>브링업</a:t>
            </a:r>
            <a:r>
              <a:rPr lang="ko-KR" altLang="ko-KR" dirty="0"/>
              <a:t> 시킨다</a:t>
            </a:r>
            <a:r>
              <a:rPr lang="en-US" altLang="ko-KR" dirty="0"/>
              <a:t>. (SBC)</a:t>
            </a:r>
          </a:p>
          <a:p>
            <a:pPr lvl="1"/>
            <a:r>
              <a:rPr lang="en-US" altLang="ko-KR" dirty="0"/>
              <a:t>$ ros2 launch turtlebot3_bringup robot.launch.py</a:t>
            </a:r>
          </a:p>
          <a:p>
            <a:r>
              <a:rPr lang="en-US" altLang="ko-KR" dirty="0"/>
              <a:t>2. PC</a:t>
            </a:r>
            <a:r>
              <a:rPr lang="ko-KR" altLang="ko-KR" dirty="0"/>
              <a:t>에서 만들어진 </a:t>
            </a:r>
            <a:r>
              <a:rPr lang="ko-KR" altLang="ko-KR" dirty="0" err="1"/>
              <a:t>맵을</a:t>
            </a:r>
            <a:r>
              <a:rPr lang="ko-KR" altLang="ko-KR" dirty="0"/>
              <a:t> 이용해서 네비게이션을 실행 시킨다</a:t>
            </a:r>
            <a:r>
              <a:rPr lang="en-US" altLang="ko-KR" dirty="0"/>
              <a:t>. </a:t>
            </a:r>
          </a:p>
          <a:p>
            <a:pPr lvl="1"/>
            <a:r>
              <a:rPr lang="en-US" altLang="ko-KR" dirty="0"/>
              <a:t>$ ros2 launch turtlebot3_navigation2 navigation2.launch.py map:=$HOME/</a:t>
            </a:r>
            <a:r>
              <a:rPr lang="en-US" altLang="ko-KR" dirty="0" err="1"/>
              <a:t>map.yaml</a:t>
            </a:r>
            <a:r>
              <a:rPr lang="en-US" altLang="ko-KR" b="1" dirty="0"/>
              <a:t> </a:t>
            </a:r>
          </a:p>
          <a:p>
            <a:r>
              <a:rPr lang="en-US" altLang="ko-KR" dirty="0"/>
              <a:t>3. RViz2 </a:t>
            </a:r>
            <a:r>
              <a:rPr lang="ko-KR" altLang="ko-KR" dirty="0"/>
              <a:t>메뉴에서 </a:t>
            </a:r>
            <a:r>
              <a:rPr lang="en-US" altLang="ko-KR" dirty="0"/>
              <a:t>2D Pose Estimate </a:t>
            </a:r>
            <a:br>
              <a:rPr lang="en-US" altLang="ko-KR" dirty="0"/>
            </a:br>
            <a:r>
              <a:rPr lang="en-US" altLang="ko-KR" dirty="0"/>
              <a:t>  </a:t>
            </a:r>
            <a:r>
              <a:rPr lang="ko-KR" altLang="ko-KR" dirty="0"/>
              <a:t>버튼을 누른다</a:t>
            </a:r>
            <a:r>
              <a:rPr lang="en-US" altLang="ko-KR" dirty="0"/>
              <a:t>.</a:t>
            </a:r>
            <a:endParaRPr lang="ko-KR" altLang="ko-KR" dirty="0"/>
          </a:p>
          <a:p>
            <a:pPr lvl="1"/>
            <a:r>
              <a:rPr lang="ko-KR" altLang="ko-KR" dirty="0"/>
              <a:t>지도에서 로봇의 위치에 클릭을 </a:t>
            </a:r>
            <a:endParaRPr lang="en-US" altLang="ko-KR" dirty="0"/>
          </a:p>
          <a:p>
            <a:pPr marL="150876" lvl="1" indent="0">
              <a:buNone/>
            </a:pPr>
            <a:r>
              <a:rPr lang="ko-KR" altLang="ko-KR" dirty="0"/>
              <a:t>하고 로봇이 향한 방향으로 드래그를 한다</a:t>
            </a:r>
            <a:r>
              <a:rPr lang="en-US" altLang="ko-KR" dirty="0"/>
              <a:t>. </a:t>
            </a:r>
            <a:endParaRPr lang="ko-KR" altLang="ko-KR" dirty="0"/>
          </a:p>
          <a:p>
            <a:endParaRPr lang="ko-KR" altLang="ko-KR" dirty="0"/>
          </a:p>
          <a:p>
            <a:endParaRPr lang="ko-KR" altLang="ko-KR" dirty="0"/>
          </a:p>
        </p:txBody>
      </p:sp>
      <p:pic>
        <p:nvPicPr>
          <p:cNvPr id="4" name="그림 3" descr="https://emanual.robotis.com/assets/images/platform/turtlebot3/ros2/tb3_navigation2_rviz_01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2437766"/>
            <a:ext cx="4022725" cy="19640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0921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n-ea"/>
                <a:ea typeface="+mn-ea"/>
              </a:rPr>
              <a:t>SLAM- Navigation </a:t>
            </a:r>
            <a:r>
              <a:rPr lang="ko-KR" altLang="en-US" b="1" dirty="0">
                <a:latin typeface="+mn-ea"/>
                <a:ea typeface="+mn-ea"/>
              </a:rPr>
              <a:t>실행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RViz2 </a:t>
            </a:r>
            <a:r>
              <a:rPr lang="ko-KR" altLang="ko-KR" dirty="0"/>
              <a:t>메뉴에서 </a:t>
            </a:r>
            <a:r>
              <a:rPr lang="en-US" altLang="ko-KR" dirty="0"/>
              <a:t>Navigation2 Goal </a:t>
            </a:r>
            <a:r>
              <a:rPr lang="ko-KR" altLang="ko-KR" dirty="0"/>
              <a:t>버튼을 클릭한다</a:t>
            </a:r>
            <a:r>
              <a:rPr lang="en-US" altLang="ko-KR" dirty="0"/>
              <a:t>.</a:t>
            </a:r>
            <a:endParaRPr lang="ko-KR" altLang="ko-KR" dirty="0"/>
          </a:p>
          <a:p>
            <a:r>
              <a:rPr lang="ko-KR" altLang="ko-KR" dirty="0"/>
              <a:t>지도에서 로봇을 이동하고 </a:t>
            </a:r>
            <a:r>
              <a:rPr lang="ko-KR" altLang="ko-KR" dirty="0" err="1"/>
              <a:t>싶은곳의</a:t>
            </a:r>
            <a:r>
              <a:rPr lang="ko-KR" altLang="ko-KR" dirty="0"/>
              <a:t> 위치에 </a:t>
            </a:r>
            <a:br>
              <a:rPr lang="en-US" altLang="ko-KR" dirty="0"/>
            </a:br>
            <a:r>
              <a:rPr lang="ko-KR" altLang="ko-KR" dirty="0"/>
              <a:t>클릭을 하고 방향을 로봇이 향하는 방향도 설정한다</a:t>
            </a:r>
            <a:r>
              <a:rPr lang="en-US" altLang="ko-KR" dirty="0"/>
              <a:t>.</a:t>
            </a:r>
            <a:endParaRPr lang="ko-KR" altLang="ko-KR" dirty="0"/>
          </a:p>
        </p:txBody>
      </p:sp>
      <p:pic>
        <p:nvPicPr>
          <p:cNvPr id="4" name="그림 3" descr="https://emanual.robotis.com/assets/images/platform/turtlebot3/ros2/tb3_navigation2_rviz_02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266950"/>
            <a:ext cx="5920740" cy="19221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59515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n-ea"/>
                <a:ea typeface="+mn-ea"/>
              </a:rPr>
              <a:t>SLAM- Navigation Nav2 </a:t>
            </a:r>
            <a:r>
              <a:rPr lang="ko-KR" altLang="en-US" b="1" dirty="0">
                <a:latin typeface="+mn-ea"/>
                <a:ea typeface="+mn-ea"/>
              </a:rPr>
              <a:t>튜닝하기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/opt/</a:t>
            </a:r>
            <a:r>
              <a:rPr lang="en-US" altLang="ko-KR" dirty="0" err="1"/>
              <a:t>ros</a:t>
            </a:r>
            <a:r>
              <a:rPr lang="en-US" altLang="ko-KR" dirty="0"/>
              <a:t>/foxy/share/nav2_bringup/</a:t>
            </a:r>
            <a:r>
              <a:rPr lang="en-US" altLang="ko-KR" dirty="0" err="1"/>
              <a:t>params</a:t>
            </a:r>
            <a:r>
              <a:rPr lang="en-US" altLang="ko-KR" dirty="0"/>
              <a:t>/nav2_params.yaml </a:t>
            </a:r>
            <a:r>
              <a:rPr lang="ko-KR" altLang="ko-KR" dirty="0"/>
              <a:t>이곳의 파일의 변수를 적절히 변화 시키면서 실행해 보고 </a:t>
            </a:r>
            <a:r>
              <a:rPr lang="en-US" altLang="ko-KR" dirty="0"/>
              <a:t>local </a:t>
            </a:r>
            <a:r>
              <a:rPr lang="ko-KR" altLang="ko-KR" dirty="0"/>
              <a:t>과 </a:t>
            </a:r>
            <a:r>
              <a:rPr lang="en-US" altLang="ko-KR" dirty="0"/>
              <a:t>global </a:t>
            </a:r>
            <a:r>
              <a:rPr lang="ko-KR" altLang="ko-KR" dirty="0"/>
              <a:t>각각의 변수를</a:t>
            </a:r>
            <a:r>
              <a:rPr lang="en-US" altLang="ko-KR" dirty="0"/>
              <a:t> </a:t>
            </a:r>
            <a:r>
              <a:rPr lang="en-US" altLang="ko-KR" dirty="0" err="1"/>
              <a:t>robot_rdius</a:t>
            </a:r>
            <a:r>
              <a:rPr lang="en-US" altLang="ko-KR" dirty="0"/>
              <a:t> </a:t>
            </a:r>
            <a:r>
              <a:rPr lang="ko-KR" altLang="ko-KR" dirty="0"/>
              <a:t>는 </a:t>
            </a:r>
            <a:r>
              <a:rPr lang="en-US" altLang="ko-KR" dirty="0"/>
              <a:t>0.11 </a:t>
            </a:r>
            <a:r>
              <a:rPr lang="ko-KR" altLang="ko-KR" dirty="0"/>
              <a:t>로</a:t>
            </a:r>
            <a:r>
              <a:rPr lang="en-US" altLang="ko-KR" dirty="0"/>
              <a:t> </a:t>
            </a:r>
            <a:r>
              <a:rPr lang="en-US" altLang="ko-KR" dirty="0" err="1"/>
              <a:t>cost_scaling_factor</a:t>
            </a:r>
            <a:r>
              <a:rPr lang="en-US" altLang="ko-KR" dirty="0"/>
              <a:t> </a:t>
            </a:r>
            <a:r>
              <a:rPr lang="ko-KR" altLang="ko-KR" dirty="0"/>
              <a:t>는 </a:t>
            </a:r>
            <a:r>
              <a:rPr lang="en-US" altLang="ko-KR" dirty="0"/>
              <a:t>0.3 </a:t>
            </a:r>
            <a:r>
              <a:rPr lang="ko-KR" altLang="ko-KR" dirty="0"/>
              <a:t>으로</a:t>
            </a:r>
            <a:r>
              <a:rPr lang="en-US" altLang="ko-KR" dirty="0"/>
              <a:t>, </a:t>
            </a:r>
            <a:r>
              <a:rPr lang="en-US" altLang="ko-KR" dirty="0" err="1"/>
              <a:t>inflation_radius</a:t>
            </a:r>
            <a:r>
              <a:rPr lang="en-US" altLang="ko-KR" dirty="0"/>
              <a:t> </a:t>
            </a:r>
            <a:r>
              <a:rPr lang="ko-KR" altLang="ko-KR" dirty="0"/>
              <a:t>는 </a:t>
            </a:r>
            <a:r>
              <a:rPr lang="en-US" altLang="ko-KR" dirty="0"/>
              <a:t>0.055 </a:t>
            </a:r>
            <a:r>
              <a:rPr lang="ko-KR" altLang="ko-KR" dirty="0"/>
              <a:t>로 변경 하는 것을 추천한다</a:t>
            </a:r>
            <a:r>
              <a:rPr lang="en-US" altLang="ko-KR" dirty="0"/>
              <a:t>. </a:t>
            </a:r>
            <a:endParaRPr lang="ko-KR" altLang="ko-KR" dirty="0"/>
          </a:p>
        </p:txBody>
      </p:sp>
      <p:pic>
        <p:nvPicPr>
          <p:cNvPr id="4" name="그림 3" descr="https://emanual.robotis.com/assets/images/platform/turtlebot3/navigation/tuning_inflation_radius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190750"/>
            <a:ext cx="3741420" cy="2070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그림 4" descr="https://emanual.robotis.com/assets/images/platform/turtlebot3/navigation/tuning_cost_scaling_factor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4380" y="2153920"/>
            <a:ext cx="3825875" cy="21291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074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ABDC7F-DA69-F6FD-080B-8CD078C58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Nav2 patrol </a:t>
            </a:r>
            <a:r>
              <a:rPr lang="ko-KR" altLang="en-US" dirty="0"/>
              <a:t>코드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17D56E22-56FC-CA68-CB83-C4CEC7B0F1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792372"/>
            <a:ext cx="8229600" cy="3934993"/>
          </a:xfrm>
        </p:spPr>
      </p:pic>
    </p:spTree>
    <p:extLst>
      <p:ext uri="{BB962C8B-B14F-4D97-AF65-F5344CB8AC3E}">
        <p14:creationId xmlns:p14="http://schemas.microsoft.com/office/powerpoint/2010/main" val="3471829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36C1E-E098-E4C8-0966-22E0241D7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B408B2-3A14-DD29-9227-1C99C969C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Nav2 patrol </a:t>
            </a:r>
            <a:r>
              <a:rPr lang="ko-KR" altLang="en-US" dirty="0"/>
              <a:t>코드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3C1035B6-7DA3-7792-8830-77726A92EF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834477"/>
            <a:ext cx="8229600" cy="3850783"/>
          </a:xfrm>
        </p:spPr>
      </p:pic>
    </p:spTree>
    <p:extLst>
      <p:ext uri="{BB962C8B-B14F-4D97-AF65-F5344CB8AC3E}">
        <p14:creationId xmlns:p14="http://schemas.microsoft.com/office/powerpoint/2010/main" val="1449912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E599C-919F-E3DE-8C09-8F3912BA4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957C02-355D-6844-5322-6209116B7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Nav2 patrol </a:t>
            </a:r>
            <a:r>
              <a:rPr lang="ko-KR" altLang="en-US" dirty="0"/>
              <a:t>코드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A258177C-8DC2-31CC-82ED-983A196D3E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7621" y="696913"/>
            <a:ext cx="7408758" cy="4125912"/>
          </a:xfrm>
        </p:spPr>
      </p:pic>
    </p:spTree>
    <p:extLst>
      <p:ext uri="{BB962C8B-B14F-4D97-AF65-F5344CB8AC3E}">
        <p14:creationId xmlns:p14="http://schemas.microsoft.com/office/powerpoint/2010/main" val="2403659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21B1D-F231-E73D-558E-E0A4E466E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108C70-AE7B-0EB6-A71A-51840AC0A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Nav2 patrol </a:t>
            </a:r>
            <a:r>
              <a:rPr lang="ko-KR" altLang="en-US" dirty="0"/>
              <a:t>코드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7E919FDE-A6EB-361F-CE01-C81EC30AF6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854307"/>
            <a:ext cx="8229600" cy="3811124"/>
          </a:xfrm>
        </p:spPr>
      </p:pic>
    </p:spTree>
    <p:extLst>
      <p:ext uri="{BB962C8B-B14F-4D97-AF65-F5344CB8AC3E}">
        <p14:creationId xmlns:p14="http://schemas.microsoft.com/office/powerpoint/2010/main" val="1056808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n-ea"/>
                <a:ea typeface="+mn-ea"/>
              </a:rPr>
              <a:t>Simulation – gazebo </a:t>
            </a:r>
            <a:r>
              <a:rPr lang="ko-KR" altLang="en-US" b="1" dirty="0">
                <a:latin typeface="+mn-ea"/>
                <a:ea typeface="+mn-ea"/>
              </a:rPr>
              <a:t>실행하기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ko-KR" dirty="0"/>
              <a:t>시뮬레이션 패키지를 설치한다</a:t>
            </a:r>
            <a:r>
              <a:rPr lang="en-US" altLang="ko-KR" dirty="0"/>
              <a:t>. </a:t>
            </a:r>
            <a:r>
              <a:rPr lang="ko-KR" altLang="ko-KR" dirty="0" err="1"/>
              <a:t>터틀봇의</a:t>
            </a:r>
            <a:r>
              <a:rPr lang="ko-KR" altLang="ko-KR" dirty="0"/>
              <a:t> 시뮬레이션은</a:t>
            </a:r>
            <a:r>
              <a:rPr lang="en-US" altLang="ko-KR" dirty="0"/>
              <a:t> turtletbot3 </a:t>
            </a:r>
            <a:r>
              <a:rPr lang="ko-KR" altLang="ko-KR" dirty="0"/>
              <a:t>와 </a:t>
            </a:r>
            <a:r>
              <a:rPr lang="en-US" altLang="ko-KR" dirty="0"/>
              <a:t>turtletbo3_msgs </a:t>
            </a:r>
            <a:r>
              <a:rPr lang="ko-KR" altLang="ko-KR" dirty="0"/>
              <a:t>패키지가 반드시 필요하다</a:t>
            </a:r>
            <a:r>
              <a:rPr lang="en-US" altLang="ko-KR" dirty="0"/>
              <a:t>. </a:t>
            </a:r>
            <a:endParaRPr lang="ko-KR" altLang="ko-KR" dirty="0"/>
          </a:p>
          <a:p>
            <a:endParaRPr lang="en-US" altLang="ko-KR" dirty="0"/>
          </a:p>
          <a:p>
            <a:endParaRPr lang="ko-KR" altLang="ko-KR" dirty="0"/>
          </a:p>
        </p:txBody>
      </p:sp>
      <p:pic>
        <p:nvPicPr>
          <p:cNvPr id="4" name="그림 3" descr="https://emanual.robotis.com/assets/images/platform/turtlebot3/simulation/turtlebot3_empty_world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809749"/>
            <a:ext cx="5181600" cy="25920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16947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n-ea"/>
                <a:ea typeface="+mn-ea"/>
              </a:rPr>
              <a:t>[</a:t>
            </a:r>
            <a:r>
              <a:rPr lang="ko-KR" altLang="en-US" b="1" dirty="0">
                <a:latin typeface="+mn-ea"/>
                <a:ea typeface="+mn-ea"/>
              </a:rPr>
              <a:t>실습</a:t>
            </a:r>
            <a:r>
              <a:rPr lang="en-US" altLang="ko-KR" b="1" dirty="0">
                <a:latin typeface="+mn-ea"/>
                <a:ea typeface="+mn-ea"/>
              </a:rPr>
              <a:t>]</a:t>
            </a:r>
            <a:endParaRPr lang="ko-KR" altLang="en-US" b="1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dirty="0" err="1"/>
              <a:t>가제보로</a:t>
            </a:r>
            <a:r>
              <a:rPr lang="ko-KR" altLang="en-US" dirty="0"/>
              <a:t> </a:t>
            </a:r>
            <a:r>
              <a:rPr lang="ko-KR" altLang="en-US" dirty="0" err="1"/>
              <a:t>터틀봇</a:t>
            </a:r>
            <a:r>
              <a:rPr lang="en-US" altLang="ko-KR" dirty="0"/>
              <a:t>3 </a:t>
            </a:r>
            <a:r>
              <a:rPr lang="ko-KR" altLang="en-US" dirty="0"/>
              <a:t>월드에 </a:t>
            </a:r>
            <a:r>
              <a:rPr lang="ko-KR" altLang="en-US" dirty="0" err="1"/>
              <a:t>터틀봇을</a:t>
            </a:r>
            <a:r>
              <a:rPr lang="ko-KR" altLang="en-US" dirty="0"/>
              <a:t> 불러오고 </a:t>
            </a:r>
            <a:r>
              <a:rPr lang="en-US" altLang="ko-KR" dirty="0"/>
              <a:t>SLAM</a:t>
            </a:r>
            <a:r>
              <a:rPr lang="ko-KR" altLang="en-US" dirty="0"/>
              <a:t>을 실행해서 지도를 만든다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 </a:t>
            </a:r>
            <a:endParaRPr lang="ko-KR" altLang="ko-KR" dirty="0"/>
          </a:p>
          <a:p>
            <a:r>
              <a:rPr lang="en-US" altLang="ko-KR" dirty="0"/>
              <a:t>2.  </a:t>
            </a:r>
            <a:r>
              <a:rPr lang="ko-KR" altLang="en-US" dirty="0" err="1"/>
              <a:t>가제보로</a:t>
            </a:r>
            <a:r>
              <a:rPr lang="ko-KR" altLang="en-US" dirty="0"/>
              <a:t> </a:t>
            </a:r>
            <a:r>
              <a:rPr lang="ko-KR" altLang="en-US" dirty="0" err="1"/>
              <a:t>터틀봇</a:t>
            </a:r>
            <a:r>
              <a:rPr lang="en-US" altLang="ko-KR" dirty="0"/>
              <a:t>3</a:t>
            </a:r>
            <a:r>
              <a:rPr lang="ko-KR" altLang="en-US" dirty="0"/>
              <a:t>월드를 불러오고 </a:t>
            </a:r>
            <a:r>
              <a:rPr lang="en-US" altLang="ko-KR" dirty="0"/>
              <a:t>1</a:t>
            </a:r>
            <a:r>
              <a:rPr lang="ko-KR" altLang="en-US" dirty="0"/>
              <a:t>에서 만든 지도로 네비게이션을 해 본다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 </a:t>
            </a:r>
          </a:p>
          <a:p>
            <a:endParaRPr lang="ko-KR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네비게이션 노드를 작성해서 </a:t>
            </a:r>
            <a:r>
              <a:rPr lang="ko-KR" altLang="en-US" dirty="0" err="1"/>
              <a:t>가제보의</a:t>
            </a:r>
            <a:r>
              <a:rPr lang="ko-KR" altLang="en-US" dirty="0"/>
              <a:t> </a:t>
            </a:r>
            <a:r>
              <a:rPr lang="ko-KR" altLang="en-US" dirty="0" err="1"/>
              <a:t>터틀봇을</a:t>
            </a:r>
            <a:r>
              <a:rPr lang="ko-KR" altLang="en-US" dirty="0"/>
              <a:t> </a:t>
            </a:r>
            <a:r>
              <a:rPr lang="ko-KR" altLang="en-US" dirty="0" err="1"/>
              <a:t>코드대로</a:t>
            </a:r>
            <a:r>
              <a:rPr lang="ko-KR" altLang="en-US" dirty="0"/>
              <a:t> 움직이게 해 본다</a:t>
            </a:r>
            <a:r>
              <a:rPr lang="en-US" altLang="ko-KR" dirty="0"/>
              <a:t>. </a:t>
            </a:r>
            <a:endParaRPr lang="ko-KR" altLang="ko-KR" dirty="0"/>
          </a:p>
          <a:p>
            <a:r>
              <a:rPr lang="en-US" altLang="ko-KR" dirty="0"/>
              <a:t> (</a:t>
            </a:r>
            <a:r>
              <a:rPr lang="en-US" altLang="ko-KR" dirty="0" err="1"/>
              <a:t>Followwaypoints</a:t>
            </a:r>
            <a:r>
              <a:rPr lang="en-US" altLang="ko-KR" dirty="0"/>
              <a:t> action</a:t>
            </a:r>
            <a:r>
              <a:rPr lang="ko-KR" altLang="en-US" dirty="0"/>
              <a:t>을 이용한다</a:t>
            </a:r>
            <a:r>
              <a:rPr lang="en-US" altLang="ko-KR" dirty="0"/>
              <a:t>. )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592448431"/>
      </p:ext>
    </p:extLst>
  </p:cSld>
  <p:clrMapOvr>
    <a:masterClrMapping/>
  </p:clrMapOvr>
</p:sld>
</file>

<file path=ppt/theme/theme1.xml><?xml version="1.0" encoding="utf-8"?>
<a:theme xmlns:a="http://schemas.openxmlformats.org/drawingml/2006/main" name="바인드소프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chemeClr val="tx1"/>
          </a:solidFill>
          <a:prstDash val="solid"/>
        </a:ln>
        <a:effectLst/>
      </a:spPr>
      <a:bodyPr wrap="square" rtlCol="0" anchor="ctr" anchorCtr="0">
        <a:noAutofit/>
      </a:bodyPr>
      <a:lstStyle>
        <a:defPPr marL="742950" indent="-742950" algn="ctr">
          <a:defRPr dirty="0" smtClean="0">
            <a:latin typeface="HY동녘B" pitchFamily="18" charset="-127"/>
            <a:ea typeface="HY동녘B" pitchFamily="18" charset="-127"/>
          </a:defRPr>
        </a:defPPr>
      </a:lstStyle>
    </a:spDef>
    <a:lnDef>
      <a:spPr>
        <a:ln w="19050">
          <a:solidFill>
            <a:schemeClr val="tx1"/>
          </a:solidFill>
          <a:headEnd type="non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gradFill>
          <a:gsLst>
            <a:gs pos="100000">
              <a:schemeClr val="bg1"/>
            </a:gs>
            <a:gs pos="0">
              <a:schemeClr val="bg1">
                <a:alpha val="0"/>
              </a:schemeClr>
            </a:gs>
          </a:gsLst>
          <a:lin ang="5400000" scaled="0"/>
        </a:gradFill>
      </a:spPr>
      <a:bodyPr vert="horz" lIns="91440" tIns="45720" rIns="91440" bIns="45720" rtlCol="0" anchor="ctr">
        <a:noAutofit/>
      </a:bodyPr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바인드소프트" id="{9F29D461-A87A-4152-BAD6-53B5FC0ADF71}" vid="{A468E1C3-A913-41F0-BB80-6BEB0CCAC86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1051</TotalTime>
  <Words>1021</Words>
  <Application>Microsoft Office PowerPoint</Application>
  <PresentationFormat>화면 슬라이드 쇼(16:9)</PresentationFormat>
  <Paragraphs>144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Arial Unicode MS</vt:lpstr>
      <vt:lpstr>HY견고딕</vt:lpstr>
      <vt:lpstr>맑은 고딕</vt:lpstr>
      <vt:lpstr>Arial</vt:lpstr>
      <vt:lpstr>Wingdings</vt:lpstr>
      <vt:lpstr>바인드소프트</vt:lpstr>
      <vt:lpstr>터트봇3 제어 실습</vt:lpstr>
      <vt:lpstr>슬램( SLAM )</vt:lpstr>
      <vt:lpstr>Cartograhper</vt:lpstr>
      <vt:lpstr>SLAM- Navigation 실행하기</vt:lpstr>
      <vt:lpstr>SLAM- Navigation Cartographer튜닝하기</vt:lpstr>
      <vt:lpstr>SLAM- Navigation 지도 저장</vt:lpstr>
      <vt:lpstr>2D 맵 토픽 /map(nav_msgs/msg/OccupancyGrid)의 이해 </vt:lpstr>
      <vt:lpstr>2D 맵 토픽 /map(nav_msgs/msg/OccupancyGrid)의 이해 </vt:lpstr>
      <vt:lpstr>2D 맵 토픽 /map(nav_msgs/msg/OccupancyGrid)의 이해 </vt:lpstr>
      <vt:lpstr>2D 맵 토픽 /map(nav_msgs/msg/OccupancyGrid)의 이해 </vt:lpstr>
      <vt:lpstr>2D 맵 토픽 /map(nav_msgs/msg/OccupancyGrid)의 이해 </vt:lpstr>
      <vt:lpstr>SLAM- Navigation- 네비 초기화</vt:lpstr>
      <vt:lpstr>SLAM- Navigation 실행</vt:lpstr>
      <vt:lpstr>SLAM- Navigation Nav2 튜닝하기</vt:lpstr>
      <vt:lpstr>Nav2 patrol 코드</vt:lpstr>
      <vt:lpstr>Nav2 patrol 코드</vt:lpstr>
      <vt:lpstr>Nav2 patrol 코드</vt:lpstr>
      <vt:lpstr>Nav2 patrol 코드</vt:lpstr>
      <vt:lpstr>Simulation – gazebo 실행하기</vt:lpstr>
      <vt:lpstr>[실습]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Sugil Choi</cp:lastModifiedBy>
  <cp:revision>35</cp:revision>
  <dcterms:created xsi:type="dcterms:W3CDTF">2023-01-17T00:02:46Z</dcterms:created>
  <dcterms:modified xsi:type="dcterms:W3CDTF">2025-05-31T07:39:22Z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