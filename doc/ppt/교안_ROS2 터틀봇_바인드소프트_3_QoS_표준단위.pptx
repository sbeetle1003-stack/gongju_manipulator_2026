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35" r:id="rId1"/>
  </p:sldMasterIdLst>
  <p:notesMasterIdLst>
    <p:notesMasterId r:id="rId10"/>
  </p:notesMasterIdLst>
  <p:sldIdLst>
    <p:sldId id="436" r:id="rId2"/>
    <p:sldId id="437" r:id="rId3"/>
    <p:sldId id="441" r:id="rId4"/>
    <p:sldId id="438" r:id="rId5"/>
    <p:sldId id="439" r:id="rId6"/>
    <p:sldId id="440" r:id="rId7"/>
    <p:sldId id="442" r:id="rId8"/>
    <p:sldId id="443" r:id="rId9"/>
  </p:sldIdLst>
  <p:sldSz cx="9144000" cy="5143500" type="screen16x9"/>
  <p:notesSz cx="9144000" cy="51435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820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A813DA-1389-4022-AE07-7409835CB6E0}" type="datetimeFigureOut">
              <a:rPr lang="ko-KR" altLang="en-US" smtClean="0"/>
              <a:t>2024-12-23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34EDBE-F62B-4957-989F-39E9B8514C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308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4EDBE-F62B-4957-989F-39E9B8514C0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468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50052" cy="2285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95536" y="3219822"/>
            <a:ext cx="8352928" cy="63775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 u="none" baseline="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소단원 및 부제목</a:t>
            </a:r>
            <a:endParaRPr lang="en-US" altLang="ko-KR"/>
          </a:p>
        </p:txBody>
      </p:sp>
      <p:sp>
        <p:nvSpPr>
          <p:cNvPr id="36" name="제목 1"/>
          <p:cNvSpPr txBox="1">
            <a:spLocks/>
          </p:cNvSpPr>
          <p:nvPr/>
        </p:nvSpPr>
        <p:spPr>
          <a:xfrm>
            <a:off x="-6052" y="1"/>
            <a:ext cx="9150052" cy="2285132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endParaRPr lang="ko-KR" altLang="en-US" sz="2700" dirty="0"/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-11906" y="730389"/>
            <a:ext cx="9144000" cy="2268252"/>
          </a:xfrm>
          <a:gradFill>
            <a:gsLst>
              <a:gs pos="100000">
                <a:schemeClr val="bg1">
                  <a:alpha val="79000"/>
                </a:scheme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wrap="none"/>
          <a:lstStyle>
            <a:lvl1pPr marL="0" marR="0" indent="0" algn="ctr" defTabSz="6858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defRPr>
            </a:lvl1pPr>
          </a:lstStyle>
          <a:p>
            <a:r>
              <a:rPr lang="en-US" altLang="ko-KR"/>
              <a:t> </a:t>
            </a:r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99976" y="4221528"/>
            <a:ext cx="8280920" cy="54006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wrap="none" lIns="68580" tIns="34290" rIns="68580" bIns="34290" rtlCol="0" anchor="ctr">
            <a:noAutofit/>
          </a:bodyPr>
          <a:lstStyle/>
          <a:p>
            <a:pPr algn="ctr"/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㈜</a:t>
            </a:r>
            <a:r>
              <a:rPr lang="ko-KR" altLang="en-US" sz="1050" u="sng" dirty="0" err="1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바인드소프트</a:t>
            </a:r>
            <a:endParaRPr lang="ko-KR" altLang="en-US" sz="1050" u="sng" dirty="0">
              <a:solidFill>
                <a:schemeClr val="bg1">
                  <a:lumMod val="50000"/>
                </a:schemeClr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60" y="-175594"/>
            <a:ext cx="1224136" cy="90598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4137924"/>
            <a:ext cx="648072" cy="47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87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29"/>
          <p:cNvGrpSpPr/>
          <p:nvPr/>
        </p:nvGrpSpPr>
        <p:grpSpPr>
          <a:xfrm>
            <a:off x="357158" y="3268270"/>
            <a:ext cx="8072494" cy="53579"/>
            <a:chOff x="357158" y="4357694"/>
            <a:chExt cx="8072494" cy="71438"/>
          </a:xfrm>
        </p:grpSpPr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r="7467" b="3225"/>
            <a:stretch>
              <a:fillRect/>
            </a:stretch>
          </p:blipFill>
          <p:spPr bwMode="auto">
            <a:xfrm>
              <a:off x="357158" y="4357694"/>
              <a:ext cx="1301694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1658852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3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2617995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3577138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4536281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5495424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7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6454567" y="4357694"/>
              <a:ext cx="1975085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0" cap="all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8449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3560"/>
            <a:ext cx="8229600" cy="436946"/>
          </a:xfrm>
        </p:spPr>
        <p:txBody>
          <a:bodyPr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4822048"/>
            <a:ext cx="2895600" cy="219059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4822048"/>
            <a:ext cx="2133600" cy="219059"/>
          </a:xfrm>
        </p:spPr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96502"/>
            <a:ext cx="8229600" cy="412554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>
          <a:xfrm>
            <a:off x="467544" y="465516"/>
            <a:ext cx="8208912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0" scaled="1"/>
              <a:tileRect/>
            </a:gra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929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F:\images\design\2016.09.12 엣지아이랩 ppt 템플릿\line_yellow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41"/>
            <a:ext cx="9144000" cy="204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F:\images\design\2016.09.12 엣지아이랩 ppt 템플릿\line_blue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59297"/>
            <a:ext cx="9144000" cy="184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465516"/>
            <a:ext cx="8229600" cy="4195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09104"/>
            <a:ext cx="8229600" cy="3024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-110139"/>
            <a:ext cx="738064" cy="54624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4590160"/>
            <a:ext cx="738064" cy="54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08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</p:sldLayoutIdLst>
  <p:txStyles>
    <p:titleStyle>
      <a:lvl1pPr algn="l" defTabSz="685800" rtl="0" eaLnBrk="1" latinLnBrk="1" hangingPunct="1">
        <a:spcBef>
          <a:spcPct val="0"/>
        </a:spcBef>
        <a:buNone/>
        <a:defRPr sz="1500" b="0" kern="12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</p:titleStyle>
    <p:bodyStyle>
      <a:lvl1pPr marL="257175" indent="-257175" algn="l" defTabSz="685800" rtl="0" eaLnBrk="1" latinLnBrk="1" hangingPunct="1">
        <a:spcBef>
          <a:spcPct val="20000"/>
        </a:spcBef>
        <a:buClr>
          <a:schemeClr val="accent6">
            <a:lumMod val="75000"/>
          </a:schemeClr>
        </a:buClr>
        <a:buFont typeface="Wingdings" pitchFamily="2" charset="2"/>
        <a:buChar char="l"/>
        <a:defRPr sz="1200" kern="1200">
          <a:solidFill>
            <a:schemeClr val="tx1"/>
          </a:solidFill>
          <a:latin typeface="+mn-ea"/>
          <a:ea typeface="+mn-ea"/>
          <a:cs typeface="+mn-cs"/>
        </a:defRPr>
      </a:lvl1pPr>
      <a:lvl2pPr marL="557213" indent="-214313" algn="l" defTabSz="6858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20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1" latinLnBrk="1" hangingPunct="1">
        <a:spcBef>
          <a:spcPct val="20000"/>
        </a:spcBef>
        <a:buClr>
          <a:srgbClr val="FF9933"/>
        </a:buClr>
        <a:buFont typeface="Wingdings" pitchFamily="2" charset="2"/>
        <a:buChar char="§"/>
        <a:defRPr sz="120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20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1" latinLnBrk="1" hangingPunct="1">
        <a:spcBef>
          <a:spcPct val="20000"/>
        </a:spcBef>
        <a:buClr>
          <a:srgbClr val="FF9933"/>
        </a:buClr>
        <a:buFont typeface="Arial" pitchFamily="34" charset="0"/>
        <a:buChar char="•"/>
        <a:defRPr sz="120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ignitionrobotics.org/" TargetMode="External"/><Relationship Id="rId13" Type="http://schemas.openxmlformats.org/officeDocument/2006/relationships/hyperlink" Target="https://metrics.ros.org/" TargetMode="External"/><Relationship Id="rId3" Type="http://schemas.openxmlformats.org/officeDocument/2006/relationships/hyperlink" Target="https://www.ros.org/" TargetMode="External"/><Relationship Id="rId7" Type="http://schemas.openxmlformats.org/officeDocument/2006/relationships/hyperlink" Target="http://gazebosim.org/" TargetMode="External"/><Relationship Id="rId12" Type="http://schemas.openxmlformats.org/officeDocument/2006/relationships/hyperlink" Target="https://discourse.ros.org/" TargetMode="External"/><Relationship Id="rId2" Type="http://schemas.openxmlformats.org/officeDocument/2006/relationships/hyperlink" Target="https://wiki.ros.org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docs.ros.org/" TargetMode="External"/><Relationship Id="rId11" Type="http://schemas.openxmlformats.org/officeDocument/2006/relationships/hyperlink" Target="https://index.ros.org/doc/ros2/" TargetMode="External"/><Relationship Id="rId5" Type="http://schemas.openxmlformats.org/officeDocument/2006/relationships/hyperlink" Target="https://roscon.ros.org/" TargetMode="External"/><Relationship Id="rId15" Type="http://schemas.openxmlformats.org/officeDocument/2006/relationships/hyperlink" Target="https://fkromer.github.io/awesome-ros2/" TargetMode="External"/><Relationship Id="rId10" Type="http://schemas.openxmlformats.org/officeDocument/2006/relationships/hyperlink" Target="http://design.ros2.org/" TargetMode="External"/><Relationship Id="rId4" Type="http://schemas.openxmlformats.org/officeDocument/2006/relationships/hyperlink" Target="https://www.openrobotics.org/" TargetMode="External"/><Relationship Id="rId9" Type="http://schemas.openxmlformats.org/officeDocument/2006/relationships/hyperlink" Target="https://www.autoware.org/" TargetMode="External"/><Relationship Id="rId14" Type="http://schemas.openxmlformats.org/officeDocument/2006/relationships/hyperlink" Target="http://answers.ros.org/questions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index.ros.org/" TargetMode="External"/><Relationship Id="rId3" Type="http://schemas.openxmlformats.org/officeDocument/2006/relationships/hyperlink" Target="http://build.ros.org/" TargetMode="External"/><Relationship Id="rId7" Type="http://schemas.openxmlformats.org/officeDocument/2006/relationships/hyperlink" Target="https://repo.ros2.org/status_page/ros_humble_default.html" TargetMode="External"/><Relationship Id="rId2" Type="http://schemas.openxmlformats.org/officeDocument/2006/relationships/hyperlink" Target="https://hub.docker.com/r/osrf/ros2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repositories.ros.org/status_page/ros_kinetic_default.html" TargetMode="External"/><Relationship Id="rId5" Type="http://schemas.openxmlformats.org/officeDocument/2006/relationships/hyperlink" Target="http://packages.ros.org/" TargetMode="External"/><Relationship Id="rId4" Type="http://schemas.openxmlformats.org/officeDocument/2006/relationships/hyperlink" Target="http://build.ros2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부제목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QoS</a:t>
            </a:r>
            <a:r>
              <a:rPr lang="en-US" altLang="ko-KR" dirty="0"/>
              <a:t>, ROS2 </a:t>
            </a:r>
            <a:r>
              <a:rPr lang="ko-KR" altLang="en-US" dirty="0"/>
              <a:t>의 표준 단위</a:t>
            </a:r>
            <a:r>
              <a:rPr lang="en-US" altLang="ko-KR" dirty="0"/>
              <a:t>, </a:t>
            </a:r>
            <a:r>
              <a:rPr lang="ko-KR" altLang="en-US" dirty="0"/>
              <a:t>시간</a:t>
            </a:r>
            <a:r>
              <a:rPr lang="en-US" altLang="ko-KR" dirty="0"/>
              <a:t>, </a:t>
            </a:r>
            <a:endParaRPr lang="ko-KR" altLang="en-US" dirty="0"/>
          </a:p>
        </p:txBody>
      </p:sp>
      <p:sp>
        <p:nvSpPr>
          <p:cNvPr id="6" name="제목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ROS2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2619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QoS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History</a:t>
            </a:r>
          </a:p>
          <a:p>
            <a:pPr lvl="1"/>
            <a:r>
              <a:rPr lang="en-US" altLang="ko-KR" dirty="0"/>
              <a:t>KEEP_ALL </a:t>
            </a:r>
            <a:r>
              <a:rPr lang="ko-KR" altLang="en-US" dirty="0"/>
              <a:t>이면 모든 데이터를 보관한다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KEEP_LAST </a:t>
            </a:r>
            <a:r>
              <a:rPr lang="ko-KR" altLang="en-US" dirty="0"/>
              <a:t>면 </a:t>
            </a:r>
            <a:r>
              <a:rPr lang="en-US" altLang="ko-KR" dirty="0"/>
              <a:t>depth </a:t>
            </a:r>
            <a:r>
              <a:rPr lang="ko-KR" altLang="en-US" dirty="0"/>
              <a:t>의 값 만큼만 보관한다</a:t>
            </a:r>
            <a:r>
              <a:rPr lang="en-US" altLang="ko-KR" dirty="0"/>
              <a:t>. </a:t>
            </a:r>
          </a:p>
          <a:p>
            <a:r>
              <a:rPr lang="en-US" altLang="ko-KR" dirty="0" err="1"/>
              <a:t>Reliablility</a:t>
            </a:r>
            <a:endParaRPr lang="en-US" altLang="ko-KR" dirty="0"/>
          </a:p>
          <a:p>
            <a:pPr lvl="1"/>
            <a:r>
              <a:rPr lang="en-US" altLang="ko-KR" dirty="0"/>
              <a:t>BEST_EFFORT </a:t>
            </a:r>
            <a:r>
              <a:rPr lang="ko-KR" altLang="en-US" dirty="0"/>
              <a:t>속도를 중시</a:t>
            </a:r>
            <a:endParaRPr lang="en-US" altLang="ko-KR" dirty="0"/>
          </a:p>
          <a:p>
            <a:pPr lvl="1"/>
            <a:r>
              <a:rPr lang="en-US" altLang="ko-KR" dirty="0"/>
              <a:t>RELIABLE </a:t>
            </a:r>
            <a:r>
              <a:rPr lang="ko-KR" altLang="en-US" dirty="0"/>
              <a:t>데이터 수신에 집중</a:t>
            </a:r>
            <a:endParaRPr lang="en-US" altLang="ko-KR" dirty="0"/>
          </a:p>
          <a:p>
            <a:r>
              <a:rPr lang="en-US" altLang="ko-KR" dirty="0"/>
              <a:t>Durability</a:t>
            </a:r>
          </a:p>
          <a:p>
            <a:pPr lvl="1"/>
            <a:r>
              <a:rPr lang="en-US" altLang="ko-KR" dirty="0"/>
              <a:t>TRANSIENT_LOCAL Subscription </a:t>
            </a:r>
            <a:r>
              <a:rPr lang="ko-KR" altLang="en-US" dirty="0"/>
              <a:t>생성 이전의 데이터 보관</a:t>
            </a:r>
            <a:endParaRPr lang="en-US" altLang="ko-KR" dirty="0"/>
          </a:p>
          <a:p>
            <a:pPr lvl="1"/>
            <a:r>
              <a:rPr lang="en-US" altLang="ko-KR" dirty="0"/>
              <a:t>VOLATILE </a:t>
            </a:r>
            <a:r>
              <a:rPr lang="ko-KR" altLang="en-US" dirty="0"/>
              <a:t>이전 데이터는 무효</a:t>
            </a:r>
            <a:endParaRPr lang="en-US" altLang="ko-KR" dirty="0"/>
          </a:p>
          <a:p>
            <a:r>
              <a:rPr lang="en-US" altLang="ko-KR" dirty="0"/>
              <a:t>Deadline</a:t>
            </a:r>
          </a:p>
          <a:p>
            <a:pPr lvl="1"/>
            <a:r>
              <a:rPr lang="ko-KR" altLang="en-US" dirty="0"/>
              <a:t>정해진 주기 안에 데이터가 </a:t>
            </a:r>
            <a:r>
              <a:rPr lang="ko-KR" altLang="en-US" dirty="0" err="1"/>
              <a:t>수발신</a:t>
            </a:r>
            <a:r>
              <a:rPr lang="ko-KR" altLang="en-US" dirty="0"/>
              <a:t> 되지 않을 경우 </a:t>
            </a:r>
            <a:r>
              <a:rPr lang="en-US" altLang="ko-KR" dirty="0" err="1"/>
              <a:t>EventCallback</a:t>
            </a:r>
            <a:r>
              <a:rPr lang="ko-KR" altLang="en-US" dirty="0"/>
              <a:t>을 실행</a:t>
            </a:r>
            <a:endParaRPr lang="en-US" altLang="ko-KR" dirty="0"/>
          </a:p>
          <a:p>
            <a:r>
              <a:rPr lang="en-US" altLang="ko-KR" dirty="0"/>
              <a:t>Lifespan</a:t>
            </a:r>
          </a:p>
          <a:p>
            <a:pPr lvl="1"/>
            <a:r>
              <a:rPr lang="ko-KR" altLang="en-US" dirty="0"/>
              <a:t>정해진 주기 안에 수신된 데이터만 유효 판정을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Liveliness</a:t>
            </a:r>
          </a:p>
          <a:p>
            <a:pPr lvl="1"/>
            <a:r>
              <a:rPr lang="ko-KR" altLang="en-US" dirty="0"/>
              <a:t>정해진 주기 안에 노드 혹은 토픽의 생사를 확인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en-US" altLang="ko-KR" dirty="0" err="1"/>
              <a:t>rmw_qos_profile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3951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QoS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1" y="590550"/>
            <a:ext cx="6858000" cy="2167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1" y="2774487"/>
            <a:ext cx="2895599" cy="19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87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단위</a:t>
            </a:r>
            <a:r>
              <a:rPr lang="en-US" altLang="ko-KR" dirty="0"/>
              <a:t>, </a:t>
            </a:r>
            <a:r>
              <a:rPr lang="ko-KR" altLang="en-US" dirty="0"/>
              <a:t>좌표 표현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ROS </a:t>
            </a:r>
            <a:r>
              <a:rPr lang="ko-KR" altLang="en-US" dirty="0"/>
              <a:t>에서는 단위를 사용할 때 국제단위계인  </a:t>
            </a:r>
            <a:r>
              <a:rPr lang="en-US" altLang="ko-KR" dirty="0"/>
              <a:t>SI unit </a:t>
            </a:r>
            <a:r>
              <a:rPr lang="ko-KR" altLang="en-US" dirty="0"/>
              <a:t>을 사용한다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길이 </a:t>
            </a:r>
            <a:r>
              <a:rPr lang="en-US" altLang="ko-KR" dirty="0"/>
              <a:t>: m</a:t>
            </a:r>
          </a:p>
          <a:p>
            <a:pPr lvl="1"/>
            <a:r>
              <a:rPr lang="ko-KR" altLang="en-US" dirty="0"/>
              <a:t>질량 </a:t>
            </a:r>
            <a:r>
              <a:rPr lang="en-US" altLang="ko-KR" dirty="0"/>
              <a:t>: Kg</a:t>
            </a:r>
          </a:p>
          <a:p>
            <a:pPr lvl="1"/>
            <a:r>
              <a:rPr lang="ko-KR" altLang="en-US" dirty="0"/>
              <a:t>시간 </a:t>
            </a:r>
            <a:r>
              <a:rPr lang="en-US" altLang="ko-KR" dirty="0"/>
              <a:t>: S</a:t>
            </a:r>
          </a:p>
          <a:p>
            <a:pPr lvl="1"/>
            <a:r>
              <a:rPr lang="ko-KR" altLang="en-US" dirty="0"/>
              <a:t>전류 </a:t>
            </a:r>
            <a:r>
              <a:rPr lang="en-US" altLang="ko-KR" dirty="0"/>
              <a:t>: A</a:t>
            </a:r>
          </a:p>
          <a:p>
            <a:pPr lvl="1"/>
            <a:r>
              <a:rPr lang="ko-KR" altLang="en-US" dirty="0"/>
              <a:t>평면각 </a:t>
            </a:r>
            <a:r>
              <a:rPr lang="en-US" altLang="ko-KR" dirty="0"/>
              <a:t>: Radian</a:t>
            </a:r>
          </a:p>
          <a:p>
            <a:pPr lvl="1"/>
            <a:r>
              <a:rPr lang="ko-KR" altLang="en-US" dirty="0"/>
              <a:t>주파수 </a:t>
            </a:r>
            <a:r>
              <a:rPr lang="en-US" altLang="ko-KR" dirty="0"/>
              <a:t>: Hz</a:t>
            </a:r>
          </a:p>
          <a:p>
            <a:pPr lvl="1"/>
            <a:r>
              <a:rPr lang="ko-KR" altLang="en-US" dirty="0"/>
              <a:t>온도 </a:t>
            </a:r>
            <a:r>
              <a:rPr lang="en-US" altLang="ko-KR" dirty="0"/>
              <a:t>: Celsius</a:t>
            </a:r>
          </a:p>
          <a:p>
            <a:pPr lvl="1"/>
            <a:r>
              <a:rPr lang="ko-KR" altLang="en-US" dirty="0"/>
              <a:t>전압 </a:t>
            </a:r>
            <a:r>
              <a:rPr lang="en-US" altLang="ko-KR" dirty="0"/>
              <a:t>: V </a:t>
            </a:r>
          </a:p>
          <a:p>
            <a:r>
              <a:rPr lang="ko-KR" altLang="en-US" dirty="0"/>
              <a:t>좌표의 표현 방식</a:t>
            </a:r>
            <a:endParaRPr lang="en-US" altLang="ko-KR" dirty="0"/>
          </a:p>
          <a:p>
            <a:pPr lvl="1"/>
            <a:r>
              <a:rPr lang="ko-KR" altLang="en-US" dirty="0"/>
              <a:t>오른손 법칙을 따른다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 err="1"/>
              <a:t>반시계</a:t>
            </a:r>
            <a:r>
              <a:rPr lang="ko-KR" altLang="en-US" dirty="0"/>
              <a:t> 방향이 </a:t>
            </a:r>
            <a:r>
              <a:rPr lang="ko-KR" altLang="en-US" dirty="0" err="1"/>
              <a:t>정방향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 err="1"/>
              <a:t>좌표계는</a:t>
            </a:r>
            <a:r>
              <a:rPr lang="ko-KR" altLang="en-US" dirty="0"/>
              <a:t>  </a:t>
            </a:r>
            <a:r>
              <a:rPr lang="en-US" altLang="ko-KR" dirty="0"/>
              <a:t>x (:RED) y(:GREEN) z(:BLUE) </a:t>
            </a:r>
            <a:r>
              <a:rPr lang="ko-KR" altLang="en-US" dirty="0"/>
              <a:t>로 표현하며 </a:t>
            </a:r>
            <a:r>
              <a:rPr lang="en-US" altLang="ko-KR" dirty="0"/>
              <a:t>ENU( East, North, Up) </a:t>
            </a:r>
            <a:r>
              <a:rPr lang="ko-KR" altLang="en-US" dirty="0"/>
              <a:t>을 기본으로 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 err="1"/>
              <a:t>좌표계의</a:t>
            </a:r>
            <a:r>
              <a:rPr lang="ko-KR" altLang="en-US" dirty="0"/>
              <a:t> 표현 방식이 다르면 접미사로 </a:t>
            </a:r>
            <a:r>
              <a:rPr lang="en-US" altLang="ko-KR" dirty="0"/>
              <a:t>_optical, _</a:t>
            </a:r>
            <a:r>
              <a:rPr lang="en-US" altLang="ko-KR" dirty="0" err="1"/>
              <a:t>ned</a:t>
            </a:r>
            <a:r>
              <a:rPr lang="en-US" altLang="ko-KR" dirty="0"/>
              <a:t> </a:t>
            </a:r>
            <a:r>
              <a:rPr lang="ko-KR" altLang="en-US" dirty="0"/>
              <a:t>를 붙여서 구분한다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/>
              <a:t>회전의 표현 방식은 </a:t>
            </a:r>
            <a:r>
              <a:rPr lang="ko-KR" altLang="en-US" dirty="0" err="1"/>
              <a:t>쿼터니언</a:t>
            </a:r>
            <a:r>
              <a:rPr lang="en-US" altLang="ko-KR" dirty="0"/>
              <a:t>, </a:t>
            </a:r>
            <a:r>
              <a:rPr lang="ko-KR" altLang="en-US" dirty="0"/>
              <a:t>회전 매트릭스</a:t>
            </a:r>
            <a:r>
              <a:rPr lang="en-US" altLang="ko-KR" dirty="0"/>
              <a:t>, </a:t>
            </a:r>
            <a:r>
              <a:rPr lang="ko-KR" altLang="en-US" dirty="0" err="1"/>
              <a:t>고정축이</a:t>
            </a:r>
            <a:r>
              <a:rPr lang="ko-KR" altLang="en-US" dirty="0"/>
              <a:t> 있으며 </a:t>
            </a:r>
            <a:r>
              <a:rPr lang="ko-KR" altLang="en-US" dirty="0" err="1"/>
              <a:t>오일러</a:t>
            </a:r>
            <a:r>
              <a:rPr lang="ko-KR" altLang="en-US" dirty="0"/>
              <a:t> 각도는 권장하지 않는다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621" y="2724150"/>
            <a:ext cx="5423179" cy="62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11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Stamp</a:t>
            </a:r>
            <a:r>
              <a:rPr lang="ko-KR" altLang="en-US" dirty="0"/>
              <a:t>와 </a:t>
            </a:r>
            <a:r>
              <a:rPr lang="en-US" altLang="ko-KR" dirty="0"/>
              <a:t>frame id</a:t>
            </a:r>
            <a:r>
              <a:rPr lang="ko-KR" altLang="en-US" dirty="0"/>
              <a:t> 를 </a:t>
            </a:r>
            <a:r>
              <a:rPr lang="ko-KR" altLang="en-US" dirty="0" err="1"/>
              <a:t>포함여여</a:t>
            </a:r>
            <a:r>
              <a:rPr lang="ko-KR" altLang="en-US" dirty="0"/>
              <a:t> 토픽을 발행 할 수 있다</a:t>
            </a:r>
            <a:r>
              <a:rPr lang="en-US" altLang="ko-KR" dirty="0"/>
              <a:t>. - Header</a:t>
            </a:r>
          </a:p>
          <a:p>
            <a:r>
              <a:rPr lang="en-US" altLang="ko-KR" dirty="0"/>
              <a:t>ROS_TIME: </a:t>
            </a:r>
          </a:p>
          <a:p>
            <a:pPr lvl="1"/>
            <a:r>
              <a:rPr lang="ko-KR" altLang="en-US" dirty="0"/>
              <a:t>노드가 생성될 때 기준으로의 시간</a:t>
            </a:r>
            <a:endParaRPr lang="en-US" altLang="ko-KR" dirty="0"/>
          </a:p>
          <a:p>
            <a:pPr lvl="1"/>
            <a:r>
              <a:rPr lang="en-US" altLang="ko-KR" dirty="0" err="1"/>
              <a:t>Use_sim_time</a:t>
            </a:r>
            <a:r>
              <a:rPr lang="en-US" altLang="ko-KR" dirty="0"/>
              <a:t> </a:t>
            </a:r>
            <a:r>
              <a:rPr lang="ko-KR" altLang="en-US" dirty="0" err="1"/>
              <a:t>파라미터로</a:t>
            </a:r>
            <a:r>
              <a:rPr lang="ko-KR" altLang="en-US" dirty="0"/>
              <a:t> 사용할 수 있음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use_sim_time</a:t>
            </a:r>
            <a:r>
              <a:rPr lang="en-US" altLang="ko-KR" dirty="0"/>
              <a:t> </a:t>
            </a:r>
            <a:r>
              <a:rPr lang="ko-KR" altLang="en-US" dirty="0"/>
              <a:t>이 </a:t>
            </a:r>
            <a:r>
              <a:rPr lang="en-US" altLang="ko-KR" dirty="0" err="1"/>
              <a:t>Ture</a:t>
            </a:r>
            <a:r>
              <a:rPr lang="ko-KR" altLang="en-US" dirty="0"/>
              <a:t>로 설정 된 노드는 </a:t>
            </a:r>
            <a:r>
              <a:rPr lang="en-US" altLang="ko-KR" dirty="0"/>
              <a:t>/clock </a:t>
            </a:r>
            <a:r>
              <a:rPr lang="ko-KR" altLang="en-US" dirty="0"/>
              <a:t>이라는 토픽을 발행 한다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SYSTEM_TIME: </a:t>
            </a:r>
          </a:p>
          <a:p>
            <a:pPr lvl="1"/>
            <a:r>
              <a:rPr lang="ko-KR" altLang="en-US" dirty="0"/>
              <a:t>각 시스템 마다 동기화가 되지 않을 수도 있음</a:t>
            </a:r>
            <a:endParaRPr lang="en-US" altLang="ko-KR" dirty="0"/>
          </a:p>
          <a:p>
            <a:pPr lvl="1"/>
            <a:r>
              <a:rPr lang="ko-KR" altLang="en-US" dirty="0"/>
              <a:t>특정 서버 시간으로 동기화 하기</a:t>
            </a:r>
            <a:r>
              <a:rPr lang="en-US" altLang="ko-KR" dirty="0"/>
              <a:t> </a:t>
            </a:r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ntpdate</a:t>
            </a:r>
            <a:r>
              <a:rPr lang="en-US" altLang="ko-KR" dirty="0"/>
              <a:t> ntp.Ubuntu.com </a:t>
            </a:r>
          </a:p>
          <a:p>
            <a:r>
              <a:rPr lang="en-US" altLang="ko-KR" dirty="0"/>
              <a:t>STEADY_TIME: </a:t>
            </a:r>
          </a:p>
          <a:p>
            <a:pPr lvl="1"/>
            <a:r>
              <a:rPr lang="ko-KR" altLang="en-US" dirty="0"/>
              <a:t>하드웨어 타임아웃을 사용한 시간이다</a:t>
            </a:r>
            <a:r>
              <a:rPr lang="en-US" altLang="ko-KR" dirty="0"/>
              <a:t>. </a:t>
            </a:r>
            <a:r>
              <a:rPr lang="ko-KR" altLang="en-US" dirty="0"/>
              <a:t>무조건 </a:t>
            </a:r>
            <a:r>
              <a:rPr lang="ko-KR" altLang="en-US" dirty="0" err="1"/>
              <a:t>단조증가</a:t>
            </a:r>
            <a:r>
              <a:rPr lang="ko-KR" altLang="en-US" dirty="0"/>
              <a:t> 한다는 특성을 가진다</a:t>
            </a:r>
            <a:r>
              <a:rPr lang="en-US" altLang="ko-KR" dirty="0"/>
              <a:t>. 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876550"/>
            <a:ext cx="4648200" cy="222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087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dirty="0"/>
              <a:t>1. ROS2 </a:t>
            </a:r>
            <a:r>
              <a:rPr lang="ko-KR" altLang="ko-KR" sz="1600" dirty="0"/>
              <a:t>에서 중요한 시간에 대한 메시지를 </a:t>
            </a:r>
            <a:r>
              <a:rPr lang="ko-KR" altLang="ko-KR" sz="1600" dirty="0" err="1"/>
              <a:t>퍼블리쉬</a:t>
            </a:r>
            <a:r>
              <a:rPr lang="ko-KR" altLang="ko-KR" sz="1600" dirty="0"/>
              <a:t> 해 보자</a:t>
            </a:r>
            <a:r>
              <a:rPr lang="en-US" altLang="ko-KR" sz="1600" dirty="0"/>
              <a:t>. </a:t>
            </a:r>
            <a:endParaRPr lang="ko-KR" altLang="ko-KR" sz="1600" dirty="0"/>
          </a:p>
          <a:p>
            <a:pPr marL="0" indent="0">
              <a:buNone/>
            </a:pPr>
            <a:r>
              <a:rPr lang="en-US" altLang="ko-KR" sz="1600" dirty="0"/>
              <a:t> </a:t>
            </a:r>
            <a:endParaRPr lang="ko-KR" altLang="ko-KR" sz="1600" dirty="0"/>
          </a:p>
          <a:p>
            <a:pPr marL="0" indent="0">
              <a:buNone/>
            </a:pPr>
            <a:r>
              <a:rPr lang="en-US" altLang="ko-KR" sz="1600" dirty="0"/>
              <a:t>2. topic publisher </a:t>
            </a:r>
            <a:r>
              <a:rPr lang="ko-KR" altLang="ko-KR" sz="1600" dirty="0"/>
              <a:t>의 간단한 형태인</a:t>
            </a:r>
            <a:r>
              <a:rPr lang="en-US" altLang="ko-KR" sz="1600" dirty="0"/>
              <a:t> mpub.py </a:t>
            </a:r>
            <a:r>
              <a:rPr lang="ko-KR" altLang="ko-KR" sz="1600" dirty="0"/>
              <a:t>를 변형해서 </a:t>
            </a:r>
            <a:r>
              <a:rPr lang="ko-KR" altLang="ko-KR" sz="1600" dirty="0" err="1"/>
              <a:t>터틀심을</a:t>
            </a:r>
            <a:r>
              <a:rPr lang="ko-KR" altLang="ko-KR" sz="1600" dirty="0"/>
              <a:t> 움직여 보자</a:t>
            </a:r>
            <a:r>
              <a:rPr lang="en-US" altLang="ko-KR" sz="1600" dirty="0"/>
              <a:t>. </a:t>
            </a:r>
            <a:endParaRPr lang="ko-KR" altLang="ko-KR" sz="1600" dirty="0"/>
          </a:p>
          <a:p>
            <a:pPr marL="0" indent="0">
              <a:buNone/>
            </a:pPr>
            <a:r>
              <a:rPr lang="en-US" altLang="ko-KR" sz="1600" dirty="0"/>
              <a:t> </a:t>
            </a:r>
            <a:endParaRPr lang="ko-KR" altLang="ko-KR" sz="1600" dirty="0"/>
          </a:p>
          <a:p>
            <a:pPr marL="0" indent="0">
              <a:buNone/>
            </a:pPr>
            <a:r>
              <a:rPr lang="en-US" altLang="ko-KR" sz="1600" dirty="0"/>
              <a:t>3. RQT </a:t>
            </a:r>
            <a:r>
              <a:rPr lang="ko-KR" altLang="ko-KR" sz="1600" dirty="0"/>
              <a:t>로 노드와 토픽이 어떻게 연결되어 있는지 확인해 보자</a:t>
            </a:r>
            <a:r>
              <a:rPr lang="en-US" altLang="ko-KR" sz="1600" dirty="0"/>
              <a:t>. </a:t>
            </a:r>
            <a:endParaRPr lang="ko-KR" altLang="ko-KR" sz="1600" dirty="0"/>
          </a:p>
          <a:p>
            <a:pPr marL="0" indent="0">
              <a:buNone/>
            </a:pPr>
            <a:r>
              <a:rPr lang="en-US" altLang="ko-KR" sz="1600" dirty="0"/>
              <a:t> </a:t>
            </a:r>
            <a:endParaRPr lang="ko-KR" altLang="ko-KR" sz="1600" dirty="0"/>
          </a:p>
          <a:p>
            <a:pPr marL="0" indent="0">
              <a:buNone/>
            </a:pPr>
            <a:r>
              <a:rPr lang="en-US" altLang="ko-KR" sz="1600" dirty="0"/>
              <a:t>4. spawn </a:t>
            </a:r>
            <a:r>
              <a:rPr lang="ko-KR" altLang="ko-KR" sz="1600" dirty="0"/>
              <a:t>서비스 명령어를 통해서 </a:t>
            </a:r>
            <a:r>
              <a:rPr lang="ko-KR" altLang="ko-KR" sz="1600" dirty="0" err="1"/>
              <a:t>터틀을</a:t>
            </a:r>
            <a:r>
              <a:rPr lang="ko-KR" altLang="ko-KR" sz="1600" dirty="0"/>
              <a:t> 두개 만들고</a:t>
            </a:r>
            <a:r>
              <a:rPr lang="en-US" altLang="ko-KR" sz="1600" dirty="0"/>
              <a:t> mpub.py </a:t>
            </a:r>
            <a:r>
              <a:rPr lang="ko-KR" altLang="ko-KR" sz="1600" dirty="0"/>
              <a:t>를 변형해서 두개의 </a:t>
            </a:r>
            <a:r>
              <a:rPr lang="ko-KR" altLang="ko-KR" sz="1600" dirty="0" err="1"/>
              <a:t>터틀을</a:t>
            </a:r>
            <a:r>
              <a:rPr lang="ko-KR" altLang="ko-KR" sz="1600" dirty="0"/>
              <a:t> 동시에 움직여 보자</a:t>
            </a:r>
            <a:r>
              <a:rPr lang="en-US" altLang="ko-KR" sz="1600" dirty="0"/>
              <a:t>.</a:t>
            </a:r>
            <a:endParaRPr lang="ko-KR" altLang="ko-KR" sz="1600" dirty="0"/>
          </a:p>
          <a:p>
            <a:pPr marL="0" indent="0">
              <a:buNone/>
            </a:pPr>
            <a:r>
              <a:rPr lang="en-US" altLang="ko-KR" sz="1600" dirty="0"/>
              <a:t> </a:t>
            </a:r>
            <a:endParaRPr lang="ko-KR" altLang="ko-KR" sz="1600" dirty="0"/>
          </a:p>
          <a:p>
            <a:pPr marL="0" indent="0">
              <a:buNone/>
            </a:pPr>
            <a:r>
              <a:rPr lang="en-US" altLang="ko-KR" sz="1600" dirty="0"/>
              <a:t>(ros2 service call /spawn </a:t>
            </a:r>
            <a:r>
              <a:rPr lang="en-US" altLang="ko-KR" sz="1600" dirty="0" err="1"/>
              <a:t>turtlesim</a:t>
            </a:r>
            <a:r>
              <a:rPr lang="en-US" altLang="ko-KR" sz="1600" dirty="0"/>
              <a:t>/</a:t>
            </a:r>
            <a:r>
              <a:rPr lang="en-US" altLang="ko-KR" sz="1600" dirty="0" err="1"/>
              <a:t>srv</a:t>
            </a:r>
            <a:r>
              <a:rPr lang="en-US" altLang="ko-KR" sz="1600" dirty="0"/>
              <a:t>/Spawn "{x: 5.5 , y: 7.0 , theta: 1.5, name: 'turtle2'}" )  </a:t>
            </a:r>
            <a:r>
              <a:rPr lang="ko-KR" altLang="ko-KR" sz="1600" dirty="0" err="1"/>
              <a:t>터틀심</a:t>
            </a:r>
            <a:r>
              <a:rPr lang="ko-KR" altLang="ko-KR" sz="1600" dirty="0"/>
              <a:t> </a:t>
            </a:r>
            <a:r>
              <a:rPr lang="ko-KR" altLang="ko-KR" sz="1600" dirty="0" err="1"/>
              <a:t>스폰</a:t>
            </a:r>
            <a:r>
              <a:rPr lang="ko-KR" altLang="ko-KR" sz="1600" dirty="0"/>
              <a:t> 시키기</a:t>
            </a:r>
          </a:p>
          <a:p>
            <a:pPr marL="0" indent="0">
              <a:buNone/>
            </a:pPr>
            <a:r>
              <a:rPr lang="en-US" altLang="ko-KR" sz="1600" dirty="0"/>
              <a:t>(ros2 service call /turtle1/</a:t>
            </a:r>
            <a:r>
              <a:rPr lang="en-US" altLang="ko-KR" sz="1600" dirty="0" err="1"/>
              <a:t>set_pen</a:t>
            </a:r>
            <a:r>
              <a:rPr lang="en-US" altLang="ko-KR" sz="1600" dirty="0"/>
              <a:t> </a:t>
            </a:r>
            <a:r>
              <a:rPr lang="en-US" altLang="ko-KR" sz="1600" dirty="0" err="1"/>
              <a:t>turtlesim</a:t>
            </a:r>
            <a:r>
              <a:rPr lang="en-US" altLang="ko-KR" sz="1600" dirty="0"/>
              <a:t>/</a:t>
            </a:r>
            <a:r>
              <a:rPr lang="en-US" altLang="ko-KR" sz="1600" dirty="0" err="1"/>
              <a:t>srv</a:t>
            </a:r>
            <a:r>
              <a:rPr lang="en-US" altLang="ko-KR" sz="1600" dirty="0"/>
              <a:t>/</a:t>
            </a:r>
            <a:r>
              <a:rPr lang="en-US" altLang="ko-KR" sz="1600" dirty="0" err="1"/>
              <a:t>SetPen</a:t>
            </a:r>
            <a:r>
              <a:rPr lang="en-US" altLang="ko-KR" sz="1600" dirty="0"/>
              <a:t> "{r: 100, g: 50, b: 200, width : 5}" ) </a:t>
            </a:r>
            <a:r>
              <a:rPr lang="ko-KR" altLang="ko-KR" sz="1600" dirty="0" err="1"/>
              <a:t>터틀심</a:t>
            </a:r>
            <a:r>
              <a:rPr lang="ko-KR" altLang="ko-KR" sz="1600" dirty="0"/>
              <a:t> 궤적의 색 변화 시키기</a:t>
            </a:r>
          </a:p>
        </p:txBody>
      </p:sp>
    </p:spTree>
    <p:extLst>
      <p:ext uri="{BB962C8B-B14F-4D97-AF65-F5344CB8AC3E}">
        <p14:creationId xmlns:p14="http://schemas.microsoft.com/office/powerpoint/2010/main" val="2600280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19B32C3-21C3-B992-67A2-16A8B0681295}"/>
              </a:ext>
            </a:extLst>
          </p:cNvPr>
          <p:cNvSpPr txBox="1">
            <a:spLocks/>
          </p:cNvSpPr>
          <p:nvPr/>
        </p:nvSpPr>
        <p:spPr>
          <a:xfrm>
            <a:off x="457200" y="53560"/>
            <a:ext cx="8229600" cy="436946"/>
          </a:xfrm>
          <a:prstGeom prst="rect">
            <a:avLst/>
          </a:prstGeom>
        </p:spPr>
        <p:txBody>
          <a:bodyPr/>
          <a:lstStyle>
            <a:lvl1pPr algn="l" defTabSz="685800" rtl="0" eaLnBrk="1" latinLnBrk="1" hangingPunct="1">
              <a:spcBef>
                <a:spcPct val="0"/>
              </a:spcBef>
              <a:buNone/>
              <a:defRPr sz="1500" b="0" kern="12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r>
              <a:rPr lang="en-US" altLang="ko-KR" sz="1600" dirty="0"/>
              <a:t>ROS2 </a:t>
            </a:r>
            <a:r>
              <a:rPr lang="ko-KR" altLang="en-US" sz="1600" dirty="0"/>
              <a:t>관련 자료 모음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052A6B9-0604-E42F-EDF9-DAD0DEC70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Useful ROS Links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ROS Wiki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https://wiki.ros.org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ROS Website</a:t>
            </a:r>
            <a:r>
              <a:rPr lang="en-US" altLang="ko-KR" dirty="0"/>
              <a:t>: </a:t>
            </a:r>
            <a:r>
              <a:rPr lang="en-US" altLang="ko-KR" dirty="0">
                <a:hlinkClick r:id="rId3"/>
              </a:rPr>
              <a:t>https://www.ros.org</a:t>
            </a:r>
            <a:r>
              <a:rPr lang="en-US" altLang="ko-KR" dirty="0"/>
              <a:t> (Branding)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</a:t>
            </a:r>
            <a:r>
              <a:rPr lang="en-US" altLang="ko-KR" b="1" dirty="0" err="1"/>
              <a:t>OpenRobotics</a:t>
            </a:r>
            <a:r>
              <a:rPr lang="en-US" altLang="ko-KR" b="1" dirty="0"/>
              <a:t> Website</a:t>
            </a:r>
            <a:r>
              <a:rPr lang="en-US" altLang="ko-KR" dirty="0"/>
              <a:t>: </a:t>
            </a:r>
            <a:r>
              <a:rPr lang="en-US" altLang="ko-KR" dirty="0">
                <a:hlinkClick r:id="rId4"/>
              </a:rPr>
              <a:t>https://www.openrobotics.org</a:t>
            </a:r>
            <a:r>
              <a:rPr lang="en-US" altLang="ko-KR" dirty="0"/>
              <a:t> (Branding)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</a:t>
            </a:r>
            <a:r>
              <a:rPr lang="en-US" altLang="ko-KR" b="1" dirty="0" err="1"/>
              <a:t>ROSCon</a:t>
            </a:r>
            <a:r>
              <a:rPr lang="en-US" altLang="ko-KR" b="1" dirty="0"/>
              <a:t> Website</a:t>
            </a:r>
            <a:r>
              <a:rPr lang="en-US" altLang="ko-KR" dirty="0"/>
              <a:t>: </a:t>
            </a:r>
            <a:r>
              <a:rPr lang="en-US" altLang="ko-KR" dirty="0">
                <a:hlinkClick r:id="rId5"/>
              </a:rPr>
              <a:t>https://roscon.ros.org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ROS Documentation Site</a:t>
            </a:r>
            <a:r>
              <a:rPr lang="en-US" altLang="ko-KR" dirty="0"/>
              <a:t>: </a:t>
            </a:r>
            <a:r>
              <a:rPr lang="en-US" altLang="ko-KR" dirty="0">
                <a:hlinkClick r:id="rId6"/>
              </a:rPr>
              <a:t>http://docs.ros.org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Gazebo Website</a:t>
            </a:r>
            <a:r>
              <a:rPr lang="en-US" altLang="ko-KR" dirty="0"/>
              <a:t>: </a:t>
            </a:r>
            <a:r>
              <a:rPr lang="en-US" altLang="ko-KR" dirty="0">
                <a:hlinkClick r:id="rId7"/>
              </a:rPr>
              <a:t>http://gazebosim.org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Ignition Robotics Website</a:t>
            </a:r>
            <a:r>
              <a:rPr lang="en-US" altLang="ko-KR" dirty="0"/>
              <a:t>: </a:t>
            </a:r>
            <a:r>
              <a:rPr lang="en-US" altLang="ko-KR" dirty="0">
                <a:hlinkClick r:id="rId8"/>
              </a:rPr>
              <a:t>https://ignitionrobotics.org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</a:t>
            </a:r>
            <a:r>
              <a:rPr lang="en-US" altLang="ko-KR" b="1" dirty="0" err="1"/>
              <a:t>Autoware</a:t>
            </a:r>
            <a:r>
              <a:rPr lang="en-US" altLang="ko-KR" b="1" dirty="0"/>
              <a:t> Website</a:t>
            </a:r>
            <a:r>
              <a:rPr lang="en-US" altLang="ko-KR" dirty="0"/>
              <a:t>: </a:t>
            </a:r>
            <a:r>
              <a:rPr lang="en-US" altLang="ko-KR" dirty="0">
                <a:hlinkClick r:id="rId9"/>
              </a:rPr>
              <a:t>https://www.autoware.org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ROS 2 Design</a:t>
            </a:r>
            <a:r>
              <a:rPr lang="en-US" altLang="ko-KR" dirty="0"/>
              <a:t>: </a:t>
            </a:r>
            <a:r>
              <a:rPr lang="en-US" altLang="ko-KR" dirty="0">
                <a:hlinkClick r:id="rId10"/>
              </a:rPr>
              <a:t>http://design.ros2.org/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ROS 2 Documentation</a:t>
            </a:r>
            <a:r>
              <a:rPr lang="en-US" altLang="ko-KR" dirty="0"/>
              <a:t>: </a:t>
            </a:r>
            <a:r>
              <a:rPr lang="en-US" altLang="ko-KR" dirty="0">
                <a:hlinkClick r:id="rId11"/>
              </a:rPr>
              <a:t>https://index.ros.org/doc/ros2/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Latest ROS 1 and 2 News and Discussions</a:t>
            </a:r>
            <a:r>
              <a:rPr lang="en-US" altLang="ko-KR" dirty="0"/>
              <a:t>: </a:t>
            </a:r>
            <a:r>
              <a:rPr lang="en-US" altLang="ko-KR" dirty="0">
                <a:hlinkClick r:id="rId12"/>
              </a:rPr>
              <a:t>https://discourse.ros.org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Metrics Information of ROS</a:t>
            </a:r>
            <a:r>
              <a:rPr lang="en-US" altLang="ko-KR" dirty="0"/>
              <a:t>: </a:t>
            </a:r>
            <a:r>
              <a:rPr lang="en-US" altLang="ko-KR" dirty="0">
                <a:hlinkClick r:id="rId13"/>
              </a:rPr>
              <a:t>https://metrics.ros.org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Answers and Questions for ROS</a:t>
            </a:r>
            <a:r>
              <a:rPr lang="en-US" altLang="ko-KR" dirty="0"/>
              <a:t>: </a:t>
            </a:r>
            <a:r>
              <a:rPr lang="en-US" altLang="ko-KR" dirty="0">
                <a:hlinkClick r:id="rId14"/>
              </a:rPr>
              <a:t>http://answers.ros.org/questions/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Awesome ROS 2</a:t>
            </a:r>
            <a:r>
              <a:rPr lang="en-US" altLang="ko-KR" dirty="0"/>
              <a:t>: </a:t>
            </a:r>
            <a:r>
              <a:rPr lang="en-US" altLang="ko-KR" dirty="0">
                <a:hlinkClick r:id="rId15"/>
              </a:rPr>
              <a:t>https://fkromer.github.io/awesome-ros2/</a:t>
            </a:r>
            <a:endParaRPr lang="en-US" altLang="ko-KR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CC6D9-4411-E0BC-6113-5A23AA05C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1CB9082-8F48-4397-A319-77F4F727D760}"/>
              </a:ext>
            </a:extLst>
          </p:cNvPr>
          <p:cNvSpPr txBox="1">
            <a:spLocks/>
          </p:cNvSpPr>
          <p:nvPr/>
        </p:nvSpPr>
        <p:spPr>
          <a:xfrm>
            <a:off x="457200" y="53560"/>
            <a:ext cx="8229600" cy="436946"/>
          </a:xfrm>
          <a:prstGeom prst="rect">
            <a:avLst/>
          </a:prstGeom>
        </p:spPr>
        <p:txBody>
          <a:bodyPr/>
          <a:lstStyle>
            <a:lvl1pPr algn="l" defTabSz="685800" rtl="0" eaLnBrk="1" latinLnBrk="1" hangingPunct="1">
              <a:spcBef>
                <a:spcPct val="0"/>
              </a:spcBef>
              <a:buNone/>
              <a:defRPr sz="1500" b="0" kern="12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r>
              <a:rPr lang="en-US" altLang="ko-KR" sz="1600" dirty="0"/>
              <a:t>ROS2 </a:t>
            </a:r>
            <a:r>
              <a:rPr lang="ko-KR" altLang="en-US" sz="1600" dirty="0"/>
              <a:t>관련 자료 모음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48357F5-9FB7-2947-591B-5B13EA63E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Development and Package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Official Docker Images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https://hub.docker.com/r/osrf/ros2/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ROS Build Farm</a:t>
            </a:r>
            <a:r>
              <a:rPr lang="en-US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hlinkClick r:id="rId3"/>
              </a:rPr>
              <a:t>http://build.ros.org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hlinkClick r:id="rId4"/>
              </a:rPr>
              <a:t>http://build.ros2.org/</a:t>
            </a:r>
            <a:r>
              <a:rPr lang="en-US" altLang="ko-KR" dirty="0"/>
              <a:t> (DEV)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ROS Package Repository</a:t>
            </a:r>
            <a:r>
              <a:rPr lang="en-US" altLang="ko-KR" dirty="0"/>
              <a:t>: </a:t>
            </a:r>
            <a:r>
              <a:rPr lang="en-US" altLang="ko-KR" dirty="0">
                <a:hlinkClick r:id="rId5"/>
              </a:rPr>
              <a:t>http://packages.ros.org</a:t>
            </a:r>
            <a:r>
              <a:rPr lang="en-US" altLang="ko-KR" dirty="0"/>
              <a:t> (DEV)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Status Page for Each Distro of ROS</a:t>
            </a:r>
            <a:r>
              <a:rPr lang="en-US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ROS 1 Kinetic: </a:t>
            </a:r>
            <a:r>
              <a:rPr lang="en-US" altLang="ko-KR" dirty="0">
                <a:hlinkClick r:id="rId6"/>
              </a:rPr>
              <a:t>http://repositories.ros.org/status_page/ros_kinetic_default.html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ROS 2 Humble: </a:t>
            </a:r>
            <a:r>
              <a:rPr lang="en-US" altLang="ko-KR" dirty="0">
                <a:hlinkClick r:id="rId7"/>
              </a:rPr>
              <a:t>https://repo.ros2.org/status_page/ros_humble_default.html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Static Index for Known ROS Packages for Searching and Visualization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>
                <a:hlinkClick r:id="rId8"/>
              </a:rPr>
              <a:t>https://index.ros.org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4718647"/>
      </p:ext>
    </p:extLst>
  </p:cSld>
  <p:clrMapOvr>
    <a:masterClrMapping/>
  </p:clrMapOvr>
</p:sld>
</file>

<file path=ppt/theme/theme1.xml><?xml version="1.0" encoding="utf-8"?>
<a:theme xmlns:a="http://schemas.openxmlformats.org/drawingml/2006/main" name="바인드소프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/>
          </a:solidFill>
          <a:prstDash val="solid"/>
        </a:ln>
        <a:effectLst/>
      </a:spPr>
      <a:bodyPr wrap="square" rtlCol="0" anchor="ctr" anchorCtr="0">
        <a:noAutofit/>
      </a:bodyPr>
      <a:lstStyle>
        <a:defPPr marL="742950" indent="-742950" algn="ctr">
          <a:defRPr dirty="0" smtClean="0">
            <a:latin typeface="HY동녘B" pitchFamily="18" charset="-127"/>
            <a:ea typeface="HY동녘B" pitchFamily="18" charset="-127"/>
          </a:defRPr>
        </a:defPPr>
      </a:lstStyle>
    </a:spDef>
    <a:lnDef>
      <a:spPr>
        <a:ln w="19050">
          <a:solidFill>
            <a:schemeClr val="tx1"/>
          </a:solidFill>
          <a:headEnd type="non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gradFill>
          <a:gsLst>
            <a:gs pos="100000">
              <a:schemeClr val="bg1"/>
            </a:gs>
            <a:gs pos="0">
              <a:schemeClr val="bg1">
                <a:alpha val="0"/>
              </a:schemeClr>
            </a:gs>
          </a:gsLst>
          <a:lin ang="5400000" scaled="0"/>
        </a:gradFill>
      </a:spPr>
      <a:bodyPr vert="horz" lIns="91440" tIns="45720" rIns="91440" bIns="45720" rtlCol="0" anchor="ctr">
        <a:noAutofit/>
      </a:bodyPr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바인드소프트" id="{9F29D461-A87A-4152-BAD6-53B5FC0ADF71}" vid="{A468E1C3-A913-41F0-BB80-6BEB0CCAC86F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2687</TotalTime>
  <Words>761</Words>
  <Application>Microsoft Office PowerPoint</Application>
  <PresentationFormat>화면 슬라이드 쇼(16:9)</PresentationFormat>
  <Paragraphs>86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HY견고딕</vt:lpstr>
      <vt:lpstr>맑은 고딕</vt:lpstr>
      <vt:lpstr>Arial</vt:lpstr>
      <vt:lpstr>Wingdings</vt:lpstr>
      <vt:lpstr>바인드소프트</vt:lpstr>
      <vt:lpstr>ROS2</vt:lpstr>
      <vt:lpstr>QoS</vt:lpstr>
      <vt:lpstr>QoS 실습</vt:lpstr>
      <vt:lpstr>표준 단위, 좌표 표현</vt:lpstr>
      <vt:lpstr>시간</vt:lpstr>
      <vt:lpstr>[실습]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Sugil Choi</cp:lastModifiedBy>
  <cp:revision>77</cp:revision>
  <dcterms:created xsi:type="dcterms:W3CDTF">2023-01-17T00:02:46Z</dcterms:created>
  <dcterms:modified xsi:type="dcterms:W3CDTF">2024-12-22T23:58:18Z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